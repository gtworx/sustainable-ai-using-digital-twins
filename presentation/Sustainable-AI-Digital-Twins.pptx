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32ae2c8-86c9-59e4-b3f7-138ec5b4cc50}">
          <p14:sldIdLst>
            <p14:sldId id="256"/>
            <p14:sldId id="257"/>
            <p14:sldId id="258"/>
          </p14:sldIdLst>
        </p14:section>
        <p14:section name="01 Origins" id="{88303104-7cd0-9296-fe5b-a625c65213a6}">
          <p14:sldIdLst>
            <p14:sldId id="259"/>
          </p14:sldIdLst>
        </p14:section>
        <p14:section name="02 Application Areas" id="{b53149e5-905f-e4f7-b18c-6bd26f4cdcc0}">
          <p14:sldIdLst>
            <p14:sldId id="260"/>
            <p14:sldId id="261"/>
          </p14:sldIdLst>
        </p14:section>
        <p14:section name="03 Smart Cities" id="{fc12e129-2ae6-5ab4-c83e-adb8a8e03a88}">
          <p14:sldIdLst>
            <p14:sldId id="262"/>
            <p14:sldId id="263"/>
          </p14:sldIdLst>
        </p14:section>
        <p14:section name="04 OODA Loop" id="{f0784f6a-0045-ffaa-f2a1-70d6a18b56ff}">
          <p14:sldIdLst>
            <p14:sldId id="264"/>
            <p14:sldId id="265"/>
            <p14:sldId id="266"/>
          </p14:sldIdLst>
        </p14:section>
        <p14:section name="05 Sustainable AI" id="{33036b5a-838b-2e0d-8337-a514c95ae60a}">
          <p14:sldIdLst>
            <p14:sldId id="267"/>
            <p14:sldId id="268"/>
          </p14:sldIdLst>
        </p14:section>
        <p14:section name="06 Business Continuity" id="{1c9d1145-63cd-4f4e-b78a-c20b65e8ff54}">
          <p14:sldIdLst>
            <p14:sldId id="269"/>
            <p14:sldId id="270"/>
          </p14:sldIdLst>
        </p14:section>
        <p14:section name="Close" id="{01216b85-c166-bff5-c47c-89ff7d1a763f}">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April 1970. Three astronauts are 320,000 kilometres from Earth. An oxygen tank has just exploded. Power is draining, and the air is turning toxic. The people who saved them never touched that spacecraft. They saved it by working on its copy, here on the ground. That copy is the subject of today's talk. Fifty-six years later we call it a digital twin. It is no longer a room full of hardware. It is software that watches, thinks and acts,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boardrooms should care: 20 to 50 percent less unplanned downtime. 10 to 25 percent less energy. About 30 percent less traffic congestion in a real city. And here is why universities should care: these systems now decide, not just display. That raises hard questions about trust, sustainability and control. So here is my promise for the next fifteen minutes. A digital twin lets you rehearse the future before you have to live it. And I'll argue that this is our best tool for making AI itself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stops: where twins came from, where they work, a whole city, the decision loop that drives them, sustainable AI, and the resilient enterprise. Let's go back to 1970.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room. Engineers in white shirts, an exact replica of the spacecraft, and simulators wired to it. When the tank exploded, Mission Control fed real telemetry from the damaged ship into these ground simulators. Before they radioed a single instruction to the crew, they tested it there. That was a twin before the word existed. The copy made mistakes so the crew didn't have to.
In 2002, Dr. Michael Grieves gave the idea an architecture: a physical thing, a virtual thing, and a two-way flow of data between them. In 2010, NASA's John Vickers put the name Digital Twin into NASA's technology roadmap: each vehicle gets its own twin to predict its own fatigue and remaining life.
So the arc runs from rescue, to architecture, to prediction. Today we're adding a fourth step: decision. For academics: the open question since 2002 is fidelity. How close does the copy need to be before we trust its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changed between NASA's twin and today's? AI. Physics simulation now sits alongside machine learning, live IoT telemetry and generative reasoning. The twin has gone from a passive 3D dashboard to a system that predicts and optimizes itself. You'll find it in six domains.
Manufacturing is the most mature: sensors catch a failing bearing weeks before it breaks, and reinforcement learning tunes the line while it runs — 20 to 50 percent less unplanned downtime. In energy, grid twins forecast supply and demand and shift load and storage in real time. In healthcare, a twin of your own heart lets surgeons test the operation before the first cut. Supply chains, smart cities and aerospace — the direct descendant of Apollo — complete the 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holds in every row: a clear AI technique tied to a measurable outcome. That's what turns a technology into an investment case. One of these domains is big enough to hold all the others: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twin of a whole city: terrain maps, building models, thousands of sensors and public-service records in one living model. Add AI, and it becomes a city that senses and responds every few minutes.
Chattanooga, with Oak Ridge National Laboratory: more than 500 data sources, signals re-timed every four minutes, downtown congestion down about 30 percent. Virtual Singapore models wind between towers, checks how new buildings affect mobile coverage, and simulates evacuations. Helsinki 3D+ combines every building's energy history with solar models to decide which block to retrofit first. The thread running through all three is carbon: every street, roof and tram line becomes a lever you can test in the twin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engineers: sensors at the bottom, data fusion above them, AI reasoning above that, and simulation and the user interface on top. For the academics, these are the hard problems: data that won't connect across departments, citizen privacy, and model drift. The city changes, and the twin has to keep up. A city that senses, thinks and acts every four minutes is running a loop. That loop has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Boyd was a fighter pilot and military strategist. Whoever cycles through Observe, Orient, Decide, Act faster than their environment changes, wins. You already run this loop in daily life; most of us get stuck in Orient or Decide. Industries run it too, and incumbents usually fail at Orient.
Now take the human out of the latency. Observe: sensors stream vibration, heat and sound in under 10 milliseconds. Orient: physics plus machine learning asks whether this is normal expansion or a failing bearing — friction is up 14 percent. Decide: the twin runs what-if simulations side by side. Act: it sends the command, the machine responds, and the loop starts again. A digital twin is an OODA loop made of silicon and sensors.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loop runs in hours to weeks. An industry's runs in months to years. A twin's runs in milliseconds to seconds. The failure modes differ too: biased mental models, sunk-cost inertia, or — for twins — sensor noise and uncalibrated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 industry calls the same loop See, Think, Do, and it pays off: 10 to 25 percent less energy and about 20 percent lower emissions. That is the hinge of this talk. If twins can cut carbon, can they also make AI itself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uncomfortable part. AI can help save the planet, and AI also burns a great deal of energy doing it. So sustainable AI has two sides of one coin. The first is the greening of AI: shrinking the footprint of computing itself. The second is AI for greening: using AI to transform grids, cities, businesses and ecosystems. If you only do the second, you're running a carbon-neutral factory on a coal-powered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greening side: run data centres on carbon-free power 24 hours a day, and build smaller, distilled, quantized models, cooled in closed loops that save water. For executives, dimension 6 is the practical one: don't send a simple question to the largest model. Right-size it, use carbon-aware routing, and put both in your contracts. Five newer dimensions widen the frame: biodiversity monitoring, early climate warnings, AI-driven materials discovery, and automated ESG accounting. At the core sits governance: without it, the other eleven drift.
For academics: the research gap lies between the two sides. How do we measure the net effect — the carbon an AI saves, minus the carbon it consumes?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most companies where their business continuity plan is, and someone will find a binder: tested twice a year, built on idle backup data centres and warehouses full of buffer stock. Resilience has been paid for in carbon. An AI digital twin of the enterprise changes that bargain.
Predictive foresight moves the load before anything goes down. Lean resilience replaces the idle hot site with algorithms that stress-test the capacity you already have, cutting idle Scope 2 emissions and cost. Twins test sites against floods, heat and blackouts, and find the rail or sea route before a crisis forces emergency air freight. You can rehearse a ransomware attack in a sandbox. And above all, the twin protects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argument in four rows. Reactive becomes predictive. Idle hardware becomes shared, orchestrated resources. A test twice a year becomes simulation 24 hours a day, 7 days a week. Emergency air freight becomes carbon-optimized rerouting.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back to April 1970. Three people came home because a team on the ground had a copy they could break safely. Today the stakes aren't one spacecraft. They're a power grid, a city, a supply chain and a climate, and the AI we're building to run them. We can't afford to learn by failing in the real world anymore. So my message is short: rehearse the future before you live it.
To the executives: pick one asset or one process this quarter, and give it a twin with a single measurable goal. To the academics: help us measure the net effect — the carbon AI saves minus the carbon it costs. I'd love to keep the conversation going. Scan the code to connect on LinkedIn.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A0420"/>
        </a:solidFill>
      </p:bgPr>
    </p:bg>
    <p:spTree>
      <p:nvGrpSpPr>
        <p:cNvPr id="1" name=""/>
        <p:cNvGrpSpPr/>
        <p:nvPr/>
      </p:nvGrpSpPr>
      <p:grpSpPr>
        <a:xfrm>
          <a:off x="0" y="0"/>
          <a:ext cx="0" cy="0"/>
          <a:chOff x="0" y="0"/>
          <a:chExt cx="0" cy="0"/>
        </a:xfrm>
      </p:grpSpPr>
      <p:pic>
        <p:nvPicPr>
          <p:cNvPr id="2" name="Image 0" descr="/private/tmp/claude-502/-Users-gokhan-tenekecioglu-Documents-GITHUB-Sustainable-AI-Using-Digital-Twins/35ea1cf1-05ba-4f6e-ba77-59d69c2449e7/scratchpad/deck/img/advania-logo-white.png">    </p:cNvPr>
          <p:cNvPicPr>
            <a:picLocks noChangeAspect="1"/>
          </p:cNvPicPr>
          <p:nvPr/>
        </p:nvPicPr>
        <p:blipFill>
          <a:blip r:embed="rId1"/>
          <a:stretch>
            <a:fillRect/>
          </a:stretch>
        </p:blipFill>
        <p:spPr>
          <a:xfrm>
            <a:off x="548640" y="457200"/>
            <a:ext cx="1920240" cy="905256"/>
          </a:xfrm>
          <a:prstGeom prst="rect">
            <a:avLst/>
          </a:prstGeom>
        </p:spPr>
      </p:pic>
      <p:sp>
        <p:nvSpPr>
          <p:cNvPr id="3" name="Text 0"/>
          <p:cNvSpPr/>
          <p:nvPr>
            <p:ph idx="101" type="body" hasCustomPrompt="1"/>
          </p:nvPr>
        </p:nvSpPr>
        <p:spPr>
          <a:xfrm>
            <a:off x="548640" y="1874520"/>
            <a:ext cx="5669280" cy="36576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4" name="Text 0"/>
          <p:cNvSpPr/>
          <p:nvPr>
            <p:ph idx="102" type="title" hasCustomPrompt="1"/>
          </p:nvPr>
        </p:nvSpPr>
        <p:spPr>
          <a:xfrm>
            <a:off x="548640" y="2286000"/>
            <a:ext cx="5669280" cy="1920240"/>
          </a:xfrm>
          <a:prstGeom prst="rect">
            <a:avLst/>
          </a:prstGeom>
          <a:noFill/>
          <a:ln/>
        </p:spPr>
        <p:txBody>
          <a:bodyPr wrap="square" rtlCol="0"/>
          <a:lstStyle>
            <a:lvl1pPr algn="l" indent="0" marL="0">
              <a:buNone/>
              <a:defRPr lang="en-US" sz="4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600" dirty="0"/>
          </a:p>
        </p:txBody>
      </p:sp>
      <p:sp>
        <p:nvSpPr>
          <p:cNvPr id="5" name="Text 0"/>
          <p:cNvSpPr/>
          <p:nvPr>
            <p:ph idx="103" type="body" hasCustomPrompt="1"/>
          </p:nvPr>
        </p:nvSpPr>
        <p:spPr>
          <a:xfrm>
            <a:off x="548640" y="4251960"/>
            <a:ext cx="54864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A0420"/>
        </a:solidFill>
      </p:bgPr>
    </p:bg>
    <p:spTree>
      <p:nvGrpSpPr>
        <p:cNvPr id="1" name=""/>
        <p:cNvGrpSpPr/>
        <p:nvPr/>
      </p:nvGrpSpPr>
      <p:grpSpPr>
        <a:xfrm>
          <a:off x="0" y="0"/>
          <a:ext cx="0" cy="0"/>
          <a:chOff x="0" y="0"/>
          <a:chExt cx="0" cy="0"/>
        </a:xfrm>
      </p:grpSpPr>
      <p:pic>
        <p:nvPicPr>
          <p:cNvPr id="2" name="Image 0" descr="/private/tmp/claude-502/-Users-gokhan-tenekecioglu-Documents-GITHUB-Sustainable-AI-Using-Digital-Twins/35ea1cf1-05ba-4f6e-ba77-59d69c2449e7/scratchpad/deck/img/advania-logo-white.png">    </p:cNvPr>
          <p:cNvPicPr>
            <a:picLocks noChangeAspect="1"/>
          </p:cNvPicPr>
          <p:nvPr/>
        </p:nvPicPr>
        <p:blipFill>
          <a:blip r:embed="rId1"/>
          <a:stretch>
            <a:fillRect/>
          </a:stretch>
        </p:blipFill>
        <p:spPr>
          <a:xfrm>
            <a:off x="10561320" y="347472"/>
            <a:ext cx="1078992" cy="502920"/>
          </a:xfrm>
          <a:prstGeom prst="rect">
            <a:avLst/>
          </a:prstGeom>
        </p:spPr>
      </p:pic>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bg2"/>
                </a:solidFill>
              </a:rPr>
              <a:t>Sustainable AI Using Digital Twins  ·  Gökhan Tenekecioglu</a:t>
            </a:r>
            <a:endParaRPr lang="en-US" sz="1000" dirty="0"/>
          </a:p>
        </p:txBody>
      </p:sp>
      <p:sp>
        <p:nvSpPr>
          <p:cNvPr id="4" name="Text 1"/>
          <p:cNvSpPr/>
          <p:nvPr>
            <p:ph idx="102" type="body" hasCustomPrompt="1"/>
          </p:nvPr>
        </p:nvSpPr>
        <p:spPr>
          <a:xfrm>
            <a:off x="548640" y="365760"/>
            <a:ext cx="9601200" cy="292608"/>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85800"/>
            <a:ext cx="9784080" cy="73152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1874520"/>
            <a:ext cx="5669280" cy="365760"/>
          </a:xfrm>
          <a:prstGeom prst="rect">
            <a:avLst/>
          </a:prstGeom>
          <a:noFill/>
          <a:ln/>
        </p:spPr>
        <p:txBody>
          <a:bodyPr wrap="square" lIns="0" tIns="0" rIns="0" bIns="0" rtlCol="0"/>
          <a:lstStyle/>
          <a:p>
            <a:pPr indent="0" marL="0">
              <a:buNone/>
            </a:pPr>
            <a:r>
              <a:rPr lang="en-US" sz="1400" b="1" spc="300" kern="0" dirty="0">
                <a:solidFill>
                  <a:schemeClr val="accent1"/>
                </a:solidFill>
              </a:rPr>
              <a:t>EXECUTIVE &amp; ACADEMIC BRIEFING</a:t>
            </a:r>
            <a:endParaRPr lang="en-US" sz="1400" dirty="0"/>
          </a:p>
        </p:txBody>
      </p:sp>
      <p:sp>
        <p:nvSpPr>
          <p:cNvPr id="3" name="Text 0"/>
          <p:cNvSpPr/>
          <p:nvPr>
            <p:ph idx="102" type="title" hasCustomPrompt="1"/>
          </p:nvPr>
        </p:nvSpPr>
        <p:spPr>
          <a:xfrm>
            <a:off x="548640" y="2286000"/>
            <a:ext cx="5669280" cy="1920240"/>
          </a:xfrm>
          <a:prstGeom prst="rect">
            <a:avLst/>
          </a:prstGeom>
          <a:noFill/>
          <a:ln/>
        </p:spPr>
        <p:txBody>
          <a:bodyPr wrap="square" lIns="0" tIns="0" rIns="0" bIns="0" rtlCol="0" anchor="t"/>
          <a:lstStyle/>
          <a:p>
            <a:pPr algn="l" indent="0" marL="0">
              <a:buNone/>
            </a:pPr>
            <a:r>
              <a:rPr lang="en-US" sz="4600" b="1" dirty="0">
                <a:solidFill>
                  <a:schemeClr val="bg1"/>
                </a:solidFill>
                <a:latin typeface="Cambria" pitchFamily="34" charset="0"/>
                <a:ea typeface="Cambria" pitchFamily="34" charset="-122"/>
                <a:cs typeface="Cambria" pitchFamily="34" charset="-120"/>
              </a:rPr>
              <a:t>Sustainable AI Using </a:t>
            </a:r>
            <a:pPr algn="l" indent="0" marL="0">
              <a:buNone/>
            </a:pPr>
            <a:r>
              <a:rPr lang="en-US" sz="4600" b="1" dirty="0">
                <a:solidFill>
                  <a:schemeClr val="accent1"/>
                </a:solidFill>
                <a:latin typeface="Cambria" pitchFamily="34" charset="0"/>
                <a:ea typeface="Cambria" pitchFamily="34" charset="-122"/>
                <a:cs typeface="Cambria" pitchFamily="34" charset="-120"/>
              </a:rPr>
              <a:t>Digital Twins</a:t>
            </a:r>
            <a:endParaRPr lang="en-US" sz="4600" dirty="0"/>
          </a:p>
        </p:txBody>
      </p:sp>
      <p:sp>
        <p:nvSpPr>
          <p:cNvPr id="4" name="Text 0"/>
          <p:cNvSpPr/>
          <p:nvPr>
            <p:ph idx="103" type="body" hasCustomPrompt="1"/>
          </p:nvPr>
        </p:nvSpPr>
        <p:spPr>
          <a:xfrm>
            <a:off x="548640" y="4251960"/>
            <a:ext cx="5486400" cy="914400"/>
          </a:xfrm>
          <a:prstGeom prst="rect">
            <a:avLst/>
          </a:prstGeom>
          <a:noFill/>
          <a:ln/>
        </p:spPr>
        <p:txBody>
          <a:bodyPr wrap="square" lIns="0" tIns="0" rIns="0" bIns="0" rtlCol="0" anchor="t"/>
          <a:lstStyle/>
          <a:p>
            <a:pPr indent="0" marL="0">
              <a:buNone/>
            </a:pPr>
            <a:r>
              <a:rPr lang="en-US" sz="1800" dirty="0">
                <a:solidFill>
                  <a:schemeClr val="bg2"/>
                </a:solidFill>
              </a:rPr>
              <a:t>From Apollo 13 to autonomous, carbon-aware twins that observe, orient, decide and act</a:t>
            </a:r>
            <a:endParaRPr lang="en-US" sz="1800" dirty="0"/>
          </a:p>
        </p:txBody>
      </p:sp>
      <p:pic>
        <p:nvPicPr>
          <p:cNvPr id="5" name="Six dimensions of sustainable business continuity infographic" descr="Six dimensions of sustainable business continuity infographic">    </p:cNvPr>
          <p:cNvPicPr>
            <a:picLocks noChangeAspect="1"/>
          </p:cNvPicPr>
          <p:nvPr/>
        </p:nvPicPr>
        <p:blipFill>
          <a:blip r:embed="rId1"/>
          <a:stretch>
            <a:fillRect/>
          </a:stretch>
        </p:blipFill>
        <p:spPr>
          <a:xfrm>
            <a:off x="6537960" y="1417320"/>
            <a:ext cx="5120640" cy="2852928"/>
          </a:xfrm>
          <a:prstGeom prst="rect">
            <a:avLst/>
          </a:prstGeom>
        </p:spPr>
      </p:pic>
      <p:pic>
        <p:nvPicPr>
          <p:cNvPr id="6" name="Image 1" descr="QR code to Gökhan Tenekecioglu's LinkedIn profile">    </p:cNvPr>
          <p:cNvPicPr>
            <a:picLocks noChangeAspect="1"/>
          </p:cNvPicPr>
          <p:nvPr/>
        </p:nvPicPr>
        <p:blipFill>
          <a:blip r:embed="rId2"/>
          <a:stretch>
            <a:fillRect/>
          </a:stretch>
        </p:blipFill>
        <p:spPr>
          <a:xfrm>
            <a:off x="6537960" y="4709160"/>
            <a:ext cx="1143000" cy="1143000"/>
          </a:xfrm>
          <a:prstGeom prst="rect">
            <a:avLst/>
          </a:prstGeom>
        </p:spPr>
      </p:pic>
      <p:sp>
        <p:nvSpPr>
          <p:cNvPr id="7" name="Text 3"/>
          <p:cNvSpPr txBox="1"/>
          <p:nvPr/>
        </p:nvSpPr>
        <p:spPr>
          <a:xfrm>
            <a:off x="7863840" y="4846320"/>
            <a:ext cx="374904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Gökhan Tenekecioglu</a:t>
            </a:r>
            <a:endParaRPr lang="en-US" sz="2000" dirty="0"/>
          </a:p>
        </p:txBody>
      </p:sp>
      <p:sp>
        <p:nvSpPr>
          <p:cNvPr id="8" name="Text 4"/>
          <p:cNvSpPr txBox="1"/>
          <p:nvPr/>
        </p:nvSpPr>
        <p:spPr>
          <a:xfrm>
            <a:off x="7863840" y="5303520"/>
            <a:ext cx="3749040" cy="320040"/>
          </a:xfrm>
          <a:prstGeom prst="rect">
            <a:avLst/>
          </a:prstGeom>
          <a:noFill/>
          <a:ln/>
        </p:spPr>
        <p:txBody>
          <a:bodyPr wrap="square" lIns="0" tIns="0" rIns="0" bIns="0" rtlCol="0" anchor="t"/>
          <a:lstStyle/>
          <a:p>
            <a:pPr indent="0" marL="0">
              <a:buNone/>
            </a:pPr>
            <a:r>
              <a:rPr lang="en-US" sz="1400" dirty="0">
                <a:solidFill>
                  <a:schemeClr val="bg2"/>
                </a:solidFill>
              </a:rPr>
              <a:t>Scan to connect on LinkedIn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WHY IT MATTERS</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Rehearse the future before you have to live it</a:t>
            </a:r>
            <a:endParaRPr lang="en-US" sz="2800" dirty="0"/>
          </a:p>
        </p:txBody>
      </p:sp>
      <p:sp>
        <p:nvSpPr>
          <p:cNvPr id="4" name="stat Unplanned downtime"/>
          <p:cNvSpPr/>
          <p:nvPr/>
        </p:nvSpPr>
        <p:spPr>
          <a:xfrm>
            <a:off x="548640" y="1874520"/>
            <a:ext cx="2606040" cy="3108960"/>
          </a:xfrm>
          <a:prstGeom prst="roundRect">
            <a:avLst>
              <a:gd name="adj" fmla="val 4211"/>
            </a:avLst>
          </a:prstGeom>
          <a:solidFill>
            <a:schemeClr val="tx2"/>
          </a:solidFill>
          <a:ln w="9525">
            <a:solidFill>
              <a:srgbClr val="5A2A6E"/>
            </a:solidFill>
            <a:prstDash val="solid"/>
          </a:ln>
        </p:spPr>
      </p:sp>
      <p:sp>
        <p:nvSpPr>
          <p:cNvPr id="5" name="Text 3"/>
          <p:cNvSpPr txBox="1"/>
          <p:nvPr/>
        </p:nvSpPr>
        <p:spPr>
          <a:xfrm>
            <a:off x="822960" y="2194560"/>
            <a:ext cx="2057400" cy="731520"/>
          </a:xfrm>
          <a:prstGeom prst="rect">
            <a:avLst/>
          </a:prstGeom>
          <a:noFill/>
          <a:ln/>
        </p:spPr>
        <p:txBody>
          <a:bodyPr wrap="non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−20–50%</a:t>
            </a:r>
            <a:endParaRPr lang="en-US" sz="3400" dirty="0"/>
          </a:p>
        </p:txBody>
      </p:sp>
      <p:sp>
        <p:nvSpPr>
          <p:cNvPr id="6" name="Text 4"/>
          <p:cNvSpPr txBox="1"/>
          <p:nvPr/>
        </p:nvSpPr>
        <p:spPr>
          <a:xfrm>
            <a:off x="822960" y="3200400"/>
            <a:ext cx="2057400" cy="365760"/>
          </a:xfrm>
          <a:prstGeom prst="rect">
            <a:avLst/>
          </a:prstGeom>
          <a:noFill/>
          <a:ln/>
        </p:spPr>
        <p:txBody>
          <a:bodyPr wrap="square" lIns="0" tIns="0" rIns="0" bIns="0" rtlCol="0" anchor="t"/>
          <a:lstStyle/>
          <a:p>
            <a:pPr indent="0" marL="0">
              <a:buNone/>
            </a:pPr>
            <a:r>
              <a:rPr lang="en-US" sz="1600" b="1" dirty="0">
                <a:solidFill>
                  <a:schemeClr val="bg1"/>
                </a:solidFill>
              </a:rPr>
              <a:t>Unplanned downtime</a:t>
            </a:r>
            <a:endParaRPr lang="en-US" sz="1600" dirty="0"/>
          </a:p>
        </p:txBody>
      </p:sp>
      <p:sp>
        <p:nvSpPr>
          <p:cNvPr id="7" name="Text 5"/>
          <p:cNvSpPr txBox="1"/>
          <p:nvPr/>
        </p:nvSpPr>
        <p:spPr>
          <a:xfrm>
            <a:off x="822960" y="3703320"/>
            <a:ext cx="2057400" cy="1097280"/>
          </a:xfrm>
          <a:prstGeom prst="rect">
            <a:avLst/>
          </a:prstGeom>
          <a:noFill/>
          <a:ln/>
        </p:spPr>
        <p:txBody>
          <a:bodyPr wrap="square" lIns="0" tIns="0" rIns="0" bIns="0" rtlCol="0" anchor="t"/>
          <a:lstStyle/>
          <a:p>
            <a:pPr indent="0" marL="0">
              <a:buNone/>
            </a:pPr>
            <a:r>
              <a:rPr lang="en-US" sz="1400" dirty="0">
                <a:solidFill>
                  <a:schemeClr val="bg2"/>
                </a:solidFill>
              </a:rPr>
              <a:t>Manufacturing twins with anomaly detection and reinforcement learning</a:t>
            </a:r>
            <a:endParaRPr lang="en-US" sz="1400" dirty="0"/>
          </a:p>
        </p:txBody>
      </p:sp>
      <p:sp>
        <p:nvSpPr>
          <p:cNvPr id="8" name="stat Energy consumption"/>
          <p:cNvSpPr/>
          <p:nvPr/>
        </p:nvSpPr>
        <p:spPr>
          <a:xfrm>
            <a:off x="3364992" y="1874520"/>
            <a:ext cx="2606040" cy="3108960"/>
          </a:xfrm>
          <a:prstGeom prst="roundRect">
            <a:avLst>
              <a:gd name="adj" fmla="val 4211"/>
            </a:avLst>
          </a:prstGeom>
          <a:solidFill>
            <a:schemeClr val="tx2"/>
          </a:solidFill>
          <a:ln w="9525">
            <a:solidFill>
              <a:srgbClr val="5A2A6E"/>
            </a:solidFill>
            <a:prstDash val="solid"/>
          </a:ln>
        </p:spPr>
      </p:sp>
      <p:sp>
        <p:nvSpPr>
          <p:cNvPr id="9" name="Text 7"/>
          <p:cNvSpPr txBox="1"/>
          <p:nvPr/>
        </p:nvSpPr>
        <p:spPr>
          <a:xfrm>
            <a:off x="3639312" y="2194560"/>
            <a:ext cx="2057400" cy="731520"/>
          </a:xfrm>
          <a:prstGeom prst="rect">
            <a:avLst/>
          </a:prstGeom>
          <a:noFill/>
          <a:ln/>
        </p:spPr>
        <p:txBody>
          <a:bodyPr wrap="none" lIns="0" tIns="0" rIns="0" bIns="0" rtlCol="0" anchor="t"/>
          <a:lstStyle/>
          <a:p>
            <a:pPr indent="0" marL="0">
              <a:buNone/>
            </a:pPr>
            <a:r>
              <a:rPr lang="en-US" sz="3400" b="1" dirty="0">
                <a:solidFill>
                  <a:schemeClr val="accent5"/>
                </a:solidFill>
                <a:latin typeface="Cambria" pitchFamily="34" charset="0"/>
                <a:ea typeface="Cambria" pitchFamily="34" charset="-122"/>
                <a:cs typeface="Cambria" pitchFamily="34" charset="-120"/>
              </a:rPr>
              <a:t>−10–25%</a:t>
            </a:r>
            <a:endParaRPr lang="en-US" sz="3400" dirty="0"/>
          </a:p>
        </p:txBody>
      </p:sp>
      <p:sp>
        <p:nvSpPr>
          <p:cNvPr id="10" name="Text 8"/>
          <p:cNvSpPr txBox="1"/>
          <p:nvPr/>
        </p:nvSpPr>
        <p:spPr>
          <a:xfrm>
            <a:off x="3639312" y="3200400"/>
            <a:ext cx="2057400" cy="365760"/>
          </a:xfrm>
          <a:prstGeom prst="rect">
            <a:avLst/>
          </a:prstGeom>
          <a:noFill/>
          <a:ln/>
        </p:spPr>
        <p:txBody>
          <a:bodyPr wrap="square" lIns="0" tIns="0" rIns="0" bIns="0" rtlCol="0" anchor="t"/>
          <a:lstStyle/>
          <a:p>
            <a:pPr indent="0" marL="0">
              <a:buNone/>
            </a:pPr>
            <a:r>
              <a:rPr lang="en-US" sz="1600" b="1" dirty="0">
                <a:solidFill>
                  <a:schemeClr val="bg1"/>
                </a:solidFill>
              </a:rPr>
              <a:t>Energy consumption</a:t>
            </a:r>
            <a:endParaRPr lang="en-US" sz="1600" dirty="0"/>
          </a:p>
        </p:txBody>
      </p:sp>
      <p:sp>
        <p:nvSpPr>
          <p:cNvPr id="11" name="Text 9"/>
          <p:cNvSpPr txBox="1"/>
          <p:nvPr/>
        </p:nvSpPr>
        <p:spPr>
          <a:xfrm>
            <a:off x="3639312" y="3703320"/>
            <a:ext cx="2057400" cy="1097280"/>
          </a:xfrm>
          <a:prstGeom prst="rect">
            <a:avLst/>
          </a:prstGeom>
          <a:noFill/>
          <a:ln/>
        </p:spPr>
        <p:txBody>
          <a:bodyPr wrap="square" lIns="0" tIns="0" rIns="0" bIns="0" rtlCol="0" anchor="t"/>
          <a:lstStyle/>
          <a:p>
            <a:pPr indent="0" marL="0">
              <a:buNone/>
            </a:pPr>
            <a:r>
              <a:rPr lang="en-US" sz="1400" dirty="0">
                <a:solidFill>
                  <a:schemeClr val="bg2"/>
                </a:solidFill>
              </a:rPr>
              <a:t>AI-optimized operations with minimal waste</a:t>
            </a:r>
            <a:endParaRPr lang="en-US" sz="1400" dirty="0"/>
          </a:p>
        </p:txBody>
      </p:sp>
      <p:sp>
        <p:nvSpPr>
          <p:cNvPr id="12" name="stat Corridor congestion"/>
          <p:cNvSpPr/>
          <p:nvPr/>
        </p:nvSpPr>
        <p:spPr>
          <a:xfrm>
            <a:off x="6181344" y="1874520"/>
            <a:ext cx="2606040" cy="3108960"/>
          </a:xfrm>
          <a:prstGeom prst="roundRect">
            <a:avLst>
              <a:gd name="adj" fmla="val 4211"/>
            </a:avLst>
          </a:prstGeom>
          <a:solidFill>
            <a:schemeClr val="tx2"/>
          </a:solidFill>
          <a:ln w="9525">
            <a:solidFill>
              <a:srgbClr val="5A2A6E"/>
            </a:solidFill>
            <a:prstDash val="solid"/>
          </a:ln>
        </p:spPr>
      </p:sp>
      <p:sp>
        <p:nvSpPr>
          <p:cNvPr id="13" name="Text 11"/>
          <p:cNvSpPr txBox="1"/>
          <p:nvPr/>
        </p:nvSpPr>
        <p:spPr>
          <a:xfrm>
            <a:off x="6455664" y="2194560"/>
            <a:ext cx="2057400" cy="731520"/>
          </a:xfrm>
          <a:prstGeom prst="rect">
            <a:avLst/>
          </a:prstGeom>
          <a:noFill/>
          <a:ln/>
        </p:spPr>
        <p:txBody>
          <a:bodyPr wrap="none" lIns="0" tIns="0" rIns="0" bIns="0" rtlCol="0" anchor="t"/>
          <a:lstStyle/>
          <a:p>
            <a:pPr indent="0" marL="0">
              <a:buNone/>
            </a:pPr>
            <a:r>
              <a:rPr lang="en-US" sz="3400" b="1" dirty="0">
                <a:solidFill>
                  <a:schemeClr val="accent3"/>
                </a:solidFill>
                <a:latin typeface="Cambria" pitchFamily="34" charset="0"/>
                <a:ea typeface="Cambria" pitchFamily="34" charset="-122"/>
                <a:cs typeface="Cambria" pitchFamily="34" charset="-120"/>
              </a:rPr>
              <a:t>−30%</a:t>
            </a:r>
            <a:endParaRPr lang="en-US" sz="3400" dirty="0"/>
          </a:p>
        </p:txBody>
      </p:sp>
      <p:sp>
        <p:nvSpPr>
          <p:cNvPr id="14" name="Text 12"/>
          <p:cNvSpPr txBox="1"/>
          <p:nvPr/>
        </p:nvSpPr>
        <p:spPr>
          <a:xfrm>
            <a:off x="6455664" y="3200400"/>
            <a:ext cx="2057400" cy="365760"/>
          </a:xfrm>
          <a:prstGeom prst="rect">
            <a:avLst/>
          </a:prstGeom>
          <a:noFill/>
          <a:ln/>
        </p:spPr>
        <p:txBody>
          <a:bodyPr wrap="square" lIns="0" tIns="0" rIns="0" bIns="0" rtlCol="0" anchor="t"/>
          <a:lstStyle/>
          <a:p>
            <a:pPr indent="0" marL="0">
              <a:buNone/>
            </a:pPr>
            <a:r>
              <a:rPr lang="en-US" sz="1600" b="1" dirty="0">
                <a:solidFill>
                  <a:schemeClr val="bg1"/>
                </a:solidFill>
              </a:rPr>
              <a:t>Corridor congestion</a:t>
            </a:r>
            <a:endParaRPr lang="en-US" sz="1600" dirty="0"/>
          </a:p>
        </p:txBody>
      </p:sp>
      <p:sp>
        <p:nvSpPr>
          <p:cNvPr id="15" name="Text 13"/>
          <p:cNvSpPr txBox="1"/>
          <p:nvPr/>
        </p:nvSpPr>
        <p:spPr>
          <a:xfrm>
            <a:off x="6455664" y="3703320"/>
            <a:ext cx="2057400" cy="1097280"/>
          </a:xfrm>
          <a:prstGeom prst="rect">
            <a:avLst/>
          </a:prstGeom>
          <a:noFill/>
          <a:ln/>
        </p:spPr>
        <p:txBody>
          <a:bodyPr wrap="square" lIns="0" tIns="0" rIns="0" bIns="0" rtlCol="0" anchor="t"/>
          <a:lstStyle/>
          <a:p>
            <a:pPr indent="0" marL="0">
              <a:buNone/>
            </a:pPr>
            <a:r>
              <a:rPr lang="en-US" sz="1400" dirty="0">
                <a:solidFill>
                  <a:schemeClr val="bg2"/>
                </a:solidFill>
              </a:rPr>
              <a:t>About 30% in Chattanooga, with signals re-optimized every 4 minutes</a:t>
            </a:r>
            <a:endParaRPr lang="en-US" sz="1400" dirty="0"/>
          </a:p>
        </p:txBody>
      </p:sp>
      <p:sp>
        <p:nvSpPr>
          <p:cNvPr id="16" name="stat HVAC energy"/>
          <p:cNvSpPr/>
          <p:nvPr/>
        </p:nvSpPr>
        <p:spPr>
          <a:xfrm>
            <a:off x="8997696" y="1874520"/>
            <a:ext cx="2606040" cy="3108960"/>
          </a:xfrm>
          <a:prstGeom prst="roundRect">
            <a:avLst>
              <a:gd name="adj" fmla="val 4211"/>
            </a:avLst>
          </a:prstGeom>
          <a:solidFill>
            <a:schemeClr val="tx2"/>
          </a:solidFill>
          <a:ln w="9525">
            <a:solidFill>
              <a:srgbClr val="5A2A6E"/>
            </a:solidFill>
            <a:prstDash val="solid"/>
          </a:ln>
        </p:spPr>
      </p:sp>
      <p:sp>
        <p:nvSpPr>
          <p:cNvPr id="17" name="Text 15"/>
          <p:cNvSpPr txBox="1"/>
          <p:nvPr/>
        </p:nvSpPr>
        <p:spPr>
          <a:xfrm>
            <a:off x="9272016" y="2194560"/>
            <a:ext cx="2057400" cy="731520"/>
          </a:xfrm>
          <a:prstGeom prst="rect">
            <a:avLst/>
          </a:prstGeom>
          <a:noFill/>
          <a:ln/>
        </p:spPr>
        <p:txBody>
          <a:bodyPr wrap="non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−15–30%</a:t>
            </a:r>
            <a:endParaRPr lang="en-US" sz="3400" dirty="0"/>
          </a:p>
        </p:txBody>
      </p:sp>
      <p:sp>
        <p:nvSpPr>
          <p:cNvPr id="18" name="Text 16"/>
          <p:cNvSpPr txBox="1"/>
          <p:nvPr/>
        </p:nvSpPr>
        <p:spPr>
          <a:xfrm>
            <a:off x="9272016" y="3200400"/>
            <a:ext cx="2057400" cy="365760"/>
          </a:xfrm>
          <a:prstGeom prst="rect">
            <a:avLst/>
          </a:prstGeom>
          <a:noFill/>
          <a:ln/>
        </p:spPr>
        <p:txBody>
          <a:bodyPr wrap="square" lIns="0" tIns="0" rIns="0" bIns="0" rtlCol="0" anchor="t"/>
          <a:lstStyle/>
          <a:p>
            <a:pPr indent="0" marL="0">
              <a:buNone/>
            </a:pPr>
            <a:r>
              <a:rPr lang="en-US" sz="1600" b="1" dirty="0">
                <a:solidFill>
                  <a:schemeClr val="bg1"/>
                </a:solidFill>
              </a:rPr>
              <a:t>HVAC energy</a:t>
            </a:r>
            <a:endParaRPr lang="en-US" sz="1600" dirty="0"/>
          </a:p>
        </p:txBody>
      </p:sp>
      <p:sp>
        <p:nvSpPr>
          <p:cNvPr id="19" name="Text 17"/>
          <p:cNvSpPr txBox="1"/>
          <p:nvPr/>
        </p:nvSpPr>
        <p:spPr>
          <a:xfrm>
            <a:off x="9272016" y="3703320"/>
            <a:ext cx="2057400" cy="1097280"/>
          </a:xfrm>
          <a:prstGeom prst="rect">
            <a:avLst/>
          </a:prstGeom>
          <a:noFill/>
          <a:ln/>
        </p:spPr>
        <p:txBody>
          <a:bodyPr wrap="square" lIns="0" tIns="0" rIns="0" bIns="0" rtlCol="0" anchor="t"/>
          <a:lstStyle/>
          <a:p>
            <a:pPr indent="0" marL="0">
              <a:buNone/>
            </a:pPr>
            <a:r>
              <a:rPr lang="en-US" sz="1400" dirty="0">
                <a:solidFill>
                  <a:schemeClr val="bg2"/>
                </a:solidFill>
              </a:rPr>
              <a:t>Smart-city building energy management</a:t>
            </a:r>
            <a:endParaRPr lang="en-US" sz="1400" dirty="0"/>
          </a:p>
        </p:txBody>
      </p:sp>
      <p:sp>
        <p:nvSpPr>
          <p:cNvPr id="20" name="Text 18"/>
          <p:cNvSpPr txBox="1"/>
          <p:nvPr/>
        </p:nvSpPr>
        <p:spPr>
          <a:xfrm>
            <a:off x="548640" y="5349240"/>
            <a:ext cx="11064240" cy="457200"/>
          </a:xfrm>
          <a:prstGeom prst="rect">
            <a:avLst/>
          </a:prstGeom>
          <a:noFill/>
          <a:ln/>
        </p:spPr>
        <p:txBody>
          <a:bodyPr wrap="square" lIns="0" tIns="0" rIns="0" bIns="0" rtlCol="0" anchor="t"/>
          <a:lstStyle/>
          <a:p>
            <a:pPr indent="0" marL="0">
              <a:buNone/>
            </a:pPr>
            <a:r>
              <a:rPr lang="en-US" sz="1600" b="1" dirty="0">
                <a:solidFill>
                  <a:schemeClr val="accent4"/>
                </a:solidFill>
              </a:rPr>
              <a:t>For boardrooms: </a:t>
            </a:r>
            <a:pPr indent="0" marL="0">
              <a:buNone/>
            </a:pPr>
            <a:r>
              <a:rPr lang="en-US" sz="1600" dirty="0">
                <a:solidFill>
                  <a:schemeClr val="bg1"/>
                </a:solidFill>
              </a:rPr>
              <a:t>measurable gains in downtime, energy and carbon.   </a:t>
            </a:r>
            <a:pPr indent="0" marL="0">
              <a:buNone/>
            </a:pPr>
            <a:r>
              <a:rPr lang="en-US" sz="1600" b="1" dirty="0">
                <a:solidFill>
                  <a:schemeClr val="accent4"/>
                </a:solidFill>
              </a:rPr>
              <a:t>For universities: </a:t>
            </a:r>
            <a:pPr indent="0" marL="0">
              <a:buNone/>
            </a:pPr>
            <a:r>
              <a:rPr lang="en-US" sz="1600" dirty="0">
                <a:solidFill>
                  <a:schemeClr val="bg1"/>
                </a:solidFill>
              </a:rPr>
              <a:t>systems that now decide, not just display.</a:t>
            </a:r>
            <a:endParaRPr lang="en-US" sz="16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AGENDA</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Six stops from a 1970 rescue to the resilient enterprise</a:t>
            </a:r>
            <a:endParaRPr lang="en-US" sz="2800" dirty="0"/>
          </a:p>
        </p:txBody>
      </p:sp>
      <p:sp>
        <p:nvSpPr>
          <p:cNvPr id="4" name="agenda 1"/>
          <p:cNvSpPr/>
          <p:nvPr/>
        </p:nvSpPr>
        <p:spPr>
          <a:xfrm>
            <a:off x="548640" y="1783080"/>
            <a:ext cx="5440680" cy="1188720"/>
          </a:xfrm>
          <a:prstGeom prst="roundRect">
            <a:avLst>
              <a:gd name="adj" fmla="val 9231"/>
            </a:avLst>
          </a:prstGeom>
          <a:solidFill>
            <a:schemeClr val="tx2"/>
          </a:solidFill>
          <a:ln w="9525">
            <a:solidFill>
              <a:srgbClr val="5A2A6E"/>
            </a:solidFill>
            <a:prstDash val="solid"/>
          </a:ln>
        </p:spPr>
      </p:sp>
      <p:sp>
        <p:nvSpPr>
          <p:cNvPr id="5" name="ring 01"/>
          <p:cNvSpPr/>
          <p:nvPr/>
        </p:nvSpPr>
        <p:spPr>
          <a:xfrm>
            <a:off x="822960" y="2057400"/>
            <a:ext cx="640080" cy="640080"/>
          </a:xfrm>
          <a:prstGeom prst="ellipse">
            <a:avLst/>
          </a:prstGeom>
          <a:solidFill>
            <a:srgbClr val="1A0420"/>
          </a:solidFill>
          <a:ln w="25400">
            <a:solidFill>
              <a:schemeClr val="accent1"/>
            </a:solidFill>
            <a:prstDash val="solid"/>
          </a:ln>
        </p:spPr>
      </p:sp>
      <p:sp>
        <p:nvSpPr>
          <p:cNvPr id="6" name="Text 4"/>
          <p:cNvSpPr txBox="1"/>
          <p:nvPr/>
        </p:nvSpPr>
        <p:spPr>
          <a:xfrm>
            <a:off x="822960" y="2057400"/>
            <a:ext cx="640080" cy="640080"/>
          </a:xfrm>
          <a:prstGeom prst="rect">
            <a:avLst/>
          </a:prstGeom>
          <a:noFill/>
          <a:ln/>
        </p:spPr>
        <p:txBody>
          <a:bodyPr wrap="square" lIns="0" tIns="0" rIns="0" bIns="0" rtlCol="0" anchor="ctr"/>
          <a:lstStyle/>
          <a:p>
            <a:pPr algn="ctr" indent="0" marL="0">
              <a:buNone/>
            </a:pPr>
            <a:r>
              <a:rPr lang="en-US" sz="1400" b="1" dirty="0">
                <a:solidFill>
                  <a:schemeClr val="accent1"/>
                </a:solidFill>
              </a:rPr>
              <a:t>01</a:t>
            </a:r>
            <a:endParaRPr lang="en-US" sz="1400" dirty="0"/>
          </a:p>
        </p:txBody>
      </p:sp>
      <p:sp>
        <p:nvSpPr>
          <p:cNvPr id="7" name="Text 5"/>
          <p:cNvSpPr txBox="1"/>
          <p:nvPr/>
        </p:nvSpPr>
        <p:spPr>
          <a:xfrm>
            <a:off x="1691640" y="2029968"/>
            <a:ext cx="4114800" cy="384048"/>
          </a:xfrm>
          <a:prstGeom prst="rect">
            <a:avLst/>
          </a:prstGeom>
          <a:noFill/>
          <a:ln/>
        </p:spPr>
        <p:txBody>
          <a:bodyPr wrap="square" lIns="0" tIns="0" rIns="0" bIns="0" rtlCol="0" anchor="t"/>
          <a:lstStyle/>
          <a:p>
            <a:pPr indent="0" marL="0">
              <a:buNone/>
            </a:pPr>
            <a:r>
              <a:rPr lang="en-US" sz="1800" b="1" dirty="0">
                <a:solidFill>
                  <a:schemeClr val="bg1"/>
                </a:solidFill>
              </a:rPr>
              <a:t>The Origins of Digital Twins</a:t>
            </a:r>
            <a:endParaRPr lang="en-US" sz="1800" dirty="0"/>
          </a:p>
        </p:txBody>
      </p:sp>
      <p:sp>
        <p:nvSpPr>
          <p:cNvPr id="8" name="Text 6"/>
          <p:cNvSpPr txBox="1"/>
          <p:nvPr/>
        </p:nvSpPr>
        <p:spPr>
          <a:xfrm>
            <a:off x="1691640" y="2441448"/>
            <a:ext cx="4114800" cy="329184"/>
          </a:xfrm>
          <a:prstGeom prst="rect">
            <a:avLst/>
          </a:prstGeom>
          <a:noFill/>
          <a:ln/>
        </p:spPr>
        <p:txBody>
          <a:bodyPr wrap="square" lIns="0" tIns="0" rIns="0" bIns="0" rtlCol="0" anchor="t"/>
          <a:lstStyle/>
          <a:p>
            <a:pPr indent="0" marL="0">
              <a:buNone/>
            </a:pPr>
            <a:r>
              <a:rPr lang="en-US" sz="1400" dirty="0">
                <a:solidFill>
                  <a:schemeClr val="bg2"/>
                </a:solidFill>
              </a:rPr>
              <a:t>Apollo 13 → PLM 2002 → NASA 2010</a:t>
            </a:r>
            <a:endParaRPr lang="en-US" sz="1400" dirty="0"/>
          </a:p>
        </p:txBody>
      </p:sp>
      <p:sp>
        <p:nvSpPr>
          <p:cNvPr id="9" name="agenda 2"/>
          <p:cNvSpPr/>
          <p:nvPr/>
        </p:nvSpPr>
        <p:spPr>
          <a:xfrm>
            <a:off x="6172200" y="1783080"/>
            <a:ext cx="5440680" cy="1188720"/>
          </a:xfrm>
          <a:prstGeom prst="roundRect">
            <a:avLst>
              <a:gd name="adj" fmla="val 9231"/>
            </a:avLst>
          </a:prstGeom>
          <a:solidFill>
            <a:schemeClr val="tx2"/>
          </a:solidFill>
          <a:ln w="9525">
            <a:solidFill>
              <a:srgbClr val="5A2A6E"/>
            </a:solidFill>
            <a:prstDash val="solid"/>
          </a:ln>
        </p:spPr>
      </p:sp>
      <p:sp>
        <p:nvSpPr>
          <p:cNvPr id="10" name="ring 02"/>
          <p:cNvSpPr/>
          <p:nvPr/>
        </p:nvSpPr>
        <p:spPr>
          <a:xfrm>
            <a:off x="6446520" y="2057400"/>
            <a:ext cx="640080" cy="640080"/>
          </a:xfrm>
          <a:prstGeom prst="ellipse">
            <a:avLst/>
          </a:prstGeom>
          <a:solidFill>
            <a:srgbClr val="1A0420"/>
          </a:solidFill>
          <a:ln w="25400">
            <a:solidFill>
              <a:schemeClr val="accent2"/>
            </a:solidFill>
            <a:prstDash val="solid"/>
          </a:ln>
        </p:spPr>
      </p:sp>
      <p:sp>
        <p:nvSpPr>
          <p:cNvPr id="11" name="Text 9"/>
          <p:cNvSpPr txBox="1"/>
          <p:nvPr/>
        </p:nvSpPr>
        <p:spPr>
          <a:xfrm>
            <a:off x="6446520" y="2057400"/>
            <a:ext cx="640080" cy="640080"/>
          </a:xfrm>
          <a:prstGeom prst="rect">
            <a:avLst/>
          </a:prstGeom>
          <a:noFill/>
          <a:ln/>
        </p:spPr>
        <p:txBody>
          <a:bodyPr wrap="square" lIns="0" tIns="0" rIns="0" bIns="0" rtlCol="0" anchor="ctr"/>
          <a:lstStyle/>
          <a:p>
            <a:pPr algn="ctr" indent="0" marL="0">
              <a:buNone/>
            </a:pPr>
            <a:r>
              <a:rPr lang="en-US" sz="1400" b="1" dirty="0">
                <a:solidFill>
                  <a:schemeClr val="accent2"/>
                </a:solidFill>
              </a:rPr>
              <a:t>02</a:t>
            </a:r>
            <a:endParaRPr lang="en-US" sz="1400" dirty="0"/>
          </a:p>
        </p:txBody>
      </p:sp>
      <p:sp>
        <p:nvSpPr>
          <p:cNvPr id="12" name="Text 10"/>
          <p:cNvSpPr txBox="1"/>
          <p:nvPr/>
        </p:nvSpPr>
        <p:spPr>
          <a:xfrm>
            <a:off x="7315200" y="2029968"/>
            <a:ext cx="4114800" cy="384048"/>
          </a:xfrm>
          <a:prstGeom prst="rect">
            <a:avLst/>
          </a:prstGeom>
          <a:noFill/>
          <a:ln/>
        </p:spPr>
        <p:txBody>
          <a:bodyPr wrap="square" lIns="0" tIns="0" rIns="0" bIns="0" rtlCol="0" anchor="t"/>
          <a:lstStyle/>
          <a:p>
            <a:pPr indent="0" marL="0">
              <a:buNone/>
            </a:pPr>
            <a:r>
              <a:rPr lang="en-US" sz="1800" b="1" dirty="0">
                <a:solidFill>
                  <a:schemeClr val="bg1"/>
                </a:solidFill>
              </a:rPr>
              <a:t>Most Common Application Areas</a:t>
            </a:r>
            <a:endParaRPr lang="en-US" sz="1800" dirty="0"/>
          </a:p>
        </p:txBody>
      </p:sp>
      <p:sp>
        <p:nvSpPr>
          <p:cNvPr id="13" name="Text 11"/>
          <p:cNvSpPr txBox="1"/>
          <p:nvPr/>
        </p:nvSpPr>
        <p:spPr>
          <a:xfrm>
            <a:off x="7315200" y="2441448"/>
            <a:ext cx="4114800" cy="329184"/>
          </a:xfrm>
          <a:prstGeom prst="rect">
            <a:avLst/>
          </a:prstGeom>
          <a:noFill/>
          <a:ln/>
        </p:spPr>
        <p:txBody>
          <a:bodyPr wrap="square" lIns="0" tIns="0" rIns="0" bIns="0" rtlCol="0" anchor="t"/>
          <a:lstStyle/>
          <a:p>
            <a:pPr indent="0" marL="0">
              <a:buNone/>
            </a:pPr>
            <a:r>
              <a:rPr lang="en-US" sz="1400" dirty="0">
                <a:solidFill>
                  <a:schemeClr val="bg2"/>
                </a:solidFill>
              </a:rPr>
              <a:t>Six domains where AI twins deliver</a:t>
            </a:r>
            <a:endParaRPr lang="en-US" sz="1400" dirty="0"/>
          </a:p>
        </p:txBody>
      </p:sp>
      <p:sp>
        <p:nvSpPr>
          <p:cNvPr id="14" name="agenda 3"/>
          <p:cNvSpPr/>
          <p:nvPr/>
        </p:nvSpPr>
        <p:spPr>
          <a:xfrm>
            <a:off x="548640" y="3200400"/>
            <a:ext cx="5440680" cy="1188720"/>
          </a:xfrm>
          <a:prstGeom prst="roundRect">
            <a:avLst>
              <a:gd name="adj" fmla="val 9231"/>
            </a:avLst>
          </a:prstGeom>
          <a:solidFill>
            <a:schemeClr val="tx2"/>
          </a:solidFill>
          <a:ln w="9525">
            <a:solidFill>
              <a:srgbClr val="5A2A6E"/>
            </a:solidFill>
            <a:prstDash val="solid"/>
          </a:ln>
        </p:spPr>
      </p:sp>
      <p:sp>
        <p:nvSpPr>
          <p:cNvPr id="15" name="ring 03"/>
          <p:cNvSpPr/>
          <p:nvPr/>
        </p:nvSpPr>
        <p:spPr>
          <a:xfrm>
            <a:off x="822960" y="3474720"/>
            <a:ext cx="640080" cy="640080"/>
          </a:xfrm>
          <a:prstGeom prst="ellipse">
            <a:avLst/>
          </a:prstGeom>
          <a:solidFill>
            <a:srgbClr val="1A0420"/>
          </a:solidFill>
          <a:ln w="25400">
            <a:solidFill>
              <a:schemeClr val="accent3"/>
            </a:solidFill>
            <a:prstDash val="solid"/>
          </a:ln>
        </p:spPr>
      </p:sp>
      <p:sp>
        <p:nvSpPr>
          <p:cNvPr id="16" name="Text 14"/>
          <p:cNvSpPr txBox="1"/>
          <p:nvPr/>
        </p:nvSpPr>
        <p:spPr>
          <a:xfrm>
            <a:off x="822960" y="3474720"/>
            <a:ext cx="640080" cy="640080"/>
          </a:xfrm>
          <a:prstGeom prst="rect">
            <a:avLst/>
          </a:prstGeom>
          <a:noFill/>
          <a:ln/>
        </p:spPr>
        <p:txBody>
          <a:bodyPr wrap="square" lIns="0" tIns="0" rIns="0" bIns="0" rtlCol="0" anchor="ctr"/>
          <a:lstStyle/>
          <a:p>
            <a:pPr algn="ctr" indent="0" marL="0">
              <a:buNone/>
            </a:pPr>
            <a:r>
              <a:rPr lang="en-US" sz="1400" b="1" dirty="0">
                <a:solidFill>
                  <a:schemeClr val="accent3"/>
                </a:solidFill>
              </a:rPr>
              <a:t>03</a:t>
            </a:r>
            <a:endParaRPr lang="en-US" sz="1400" dirty="0"/>
          </a:p>
        </p:txBody>
      </p:sp>
      <p:sp>
        <p:nvSpPr>
          <p:cNvPr id="17" name="Text 15"/>
          <p:cNvSpPr txBox="1"/>
          <p:nvPr/>
        </p:nvSpPr>
        <p:spPr>
          <a:xfrm>
            <a:off x="1691640" y="3447288"/>
            <a:ext cx="4114800" cy="384048"/>
          </a:xfrm>
          <a:prstGeom prst="rect">
            <a:avLst/>
          </a:prstGeom>
          <a:noFill/>
          <a:ln/>
        </p:spPr>
        <p:txBody>
          <a:bodyPr wrap="square" lIns="0" tIns="0" rIns="0" bIns="0" rtlCol="0" anchor="t"/>
          <a:lstStyle/>
          <a:p>
            <a:pPr indent="0" marL="0">
              <a:buNone/>
            </a:pPr>
            <a:r>
              <a:rPr lang="en-US" sz="1800" b="1" dirty="0">
                <a:solidFill>
                  <a:schemeClr val="bg1"/>
                </a:solidFill>
              </a:rPr>
              <a:t>Digital Twins for Smart Cities</a:t>
            </a:r>
            <a:endParaRPr lang="en-US" sz="1800" dirty="0"/>
          </a:p>
        </p:txBody>
      </p:sp>
      <p:sp>
        <p:nvSpPr>
          <p:cNvPr id="18" name="Text 16"/>
          <p:cNvSpPr txBox="1"/>
          <p:nvPr/>
        </p:nvSpPr>
        <p:spPr>
          <a:xfrm>
            <a:off x="1691640" y="3858768"/>
            <a:ext cx="4114800" cy="329184"/>
          </a:xfrm>
          <a:prstGeom prst="rect">
            <a:avLst/>
          </a:prstGeom>
          <a:noFill/>
          <a:ln/>
        </p:spPr>
        <p:txBody>
          <a:bodyPr wrap="square" lIns="0" tIns="0" rIns="0" bIns="0" rtlCol="0" anchor="t"/>
          <a:lstStyle/>
          <a:p>
            <a:pPr indent="0" marL="0">
              <a:buNone/>
            </a:pPr>
            <a:r>
              <a:rPr lang="en-US" sz="1400" dirty="0">
                <a:solidFill>
                  <a:schemeClr val="bg2"/>
                </a:solidFill>
              </a:rPr>
              <a:t>Urban twins as a predictive OODA engine</a:t>
            </a:r>
            <a:endParaRPr lang="en-US" sz="1400" dirty="0"/>
          </a:p>
        </p:txBody>
      </p:sp>
      <p:sp>
        <p:nvSpPr>
          <p:cNvPr id="19" name="agenda 4"/>
          <p:cNvSpPr/>
          <p:nvPr/>
        </p:nvSpPr>
        <p:spPr>
          <a:xfrm>
            <a:off x="6172200" y="3200400"/>
            <a:ext cx="5440680" cy="1188720"/>
          </a:xfrm>
          <a:prstGeom prst="roundRect">
            <a:avLst>
              <a:gd name="adj" fmla="val 9231"/>
            </a:avLst>
          </a:prstGeom>
          <a:solidFill>
            <a:schemeClr val="tx2"/>
          </a:solidFill>
          <a:ln w="9525">
            <a:solidFill>
              <a:srgbClr val="5A2A6E"/>
            </a:solidFill>
            <a:prstDash val="solid"/>
          </a:ln>
        </p:spPr>
      </p:sp>
      <p:sp>
        <p:nvSpPr>
          <p:cNvPr id="20" name="ring 04"/>
          <p:cNvSpPr/>
          <p:nvPr/>
        </p:nvSpPr>
        <p:spPr>
          <a:xfrm>
            <a:off x="6446520" y="3474720"/>
            <a:ext cx="640080" cy="640080"/>
          </a:xfrm>
          <a:prstGeom prst="ellipse">
            <a:avLst/>
          </a:prstGeom>
          <a:solidFill>
            <a:srgbClr val="1A0420"/>
          </a:solidFill>
          <a:ln w="25400">
            <a:solidFill>
              <a:schemeClr val="accent4"/>
            </a:solidFill>
            <a:prstDash val="solid"/>
          </a:ln>
        </p:spPr>
      </p:sp>
      <p:sp>
        <p:nvSpPr>
          <p:cNvPr id="21" name="Text 19"/>
          <p:cNvSpPr txBox="1"/>
          <p:nvPr/>
        </p:nvSpPr>
        <p:spPr>
          <a:xfrm>
            <a:off x="6446520" y="3474720"/>
            <a:ext cx="640080" cy="640080"/>
          </a:xfrm>
          <a:prstGeom prst="rect">
            <a:avLst/>
          </a:prstGeom>
          <a:noFill/>
          <a:ln/>
        </p:spPr>
        <p:txBody>
          <a:bodyPr wrap="square" lIns="0" tIns="0" rIns="0" bIns="0" rtlCol="0" anchor="ctr"/>
          <a:lstStyle/>
          <a:p>
            <a:pPr algn="ctr" indent="0" marL="0">
              <a:buNone/>
            </a:pPr>
            <a:r>
              <a:rPr lang="en-US" sz="1400" b="1" dirty="0">
                <a:solidFill>
                  <a:schemeClr val="accent4"/>
                </a:solidFill>
              </a:rPr>
              <a:t>04</a:t>
            </a:r>
            <a:endParaRPr lang="en-US" sz="1400" dirty="0"/>
          </a:p>
        </p:txBody>
      </p:sp>
      <p:sp>
        <p:nvSpPr>
          <p:cNvPr id="22" name="Text 20"/>
          <p:cNvSpPr txBox="1"/>
          <p:nvPr/>
        </p:nvSpPr>
        <p:spPr>
          <a:xfrm>
            <a:off x="7315200" y="3447288"/>
            <a:ext cx="4114800" cy="384048"/>
          </a:xfrm>
          <a:prstGeom prst="rect">
            <a:avLst/>
          </a:prstGeom>
          <a:noFill/>
          <a:ln/>
        </p:spPr>
        <p:txBody>
          <a:bodyPr wrap="square" lIns="0" tIns="0" rIns="0" bIns="0" rtlCol="0" anchor="t"/>
          <a:lstStyle/>
          <a:p>
            <a:pPr indent="0" marL="0">
              <a:buNone/>
            </a:pPr>
            <a:r>
              <a:rPr lang="en-US" sz="1800" b="1" dirty="0">
                <a:solidFill>
                  <a:schemeClr val="bg1"/>
                </a:solidFill>
              </a:rPr>
              <a:t>OODA Loop &amp; Digital Twins</a:t>
            </a:r>
            <a:endParaRPr lang="en-US" sz="1800" dirty="0"/>
          </a:p>
        </p:txBody>
      </p:sp>
      <p:sp>
        <p:nvSpPr>
          <p:cNvPr id="23" name="Text 21"/>
          <p:cNvSpPr txBox="1"/>
          <p:nvPr/>
        </p:nvSpPr>
        <p:spPr>
          <a:xfrm>
            <a:off x="7315200" y="3858768"/>
            <a:ext cx="4114800" cy="329184"/>
          </a:xfrm>
          <a:prstGeom prst="rect">
            <a:avLst/>
          </a:prstGeom>
          <a:noFill/>
          <a:ln/>
        </p:spPr>
        <p:txBody>
          <a:bodyPr wrap="square" lIns="0" tIns="0" rIns="0" bIns="0" rtlCol="0" anchor="t"/>
          <a:lstStyle/>
          <a:p>
            <a:pPr indent="0" marL="0">
              <a:buNone/>
            </a:pPr>
            <a:r>
              <a:rPr lang="en-US" sz="1400" dirty="0">
                <a:solidFill>
                  <a:schemeClr val="bg2"/>
                </a:solidFill>
              </a:rPr>
              <a:t>Observe · Orient · Decide · Act</a:t>
            </a:r>
            <a:endParaRPr lang="en-US" sz="1400" dirty="0"/>
          </a:p>
        </p:txBody>
      </p:sp>
      <p:sp>
        <p:nvSpPr>
          <p:cNvPr id="24" name="agenda 5"/>
          <p:cNvSpPr/>
          <p:nvPr/>
        </p:nvSpPr>
        <p:spPr>
          <a:xfrm>
            <a:off x="548640" y="4617720"/>
            <a:ext cx="5440680" cy="1188720"/>
          </a:xfrm>
          <a:prstGeom prst="roundRect">
            <a:avLst>
              <a:gd name="adj" fmla="val 9231"/>
            </a:avLst>
          </a:prstGeom>
          <a:solidFill>
            <a:schemeClr val="tx2"/>
          </a:solidFill>
          <a:ln w="9525">
            <a:solidFill>
              <a:srgbClr val="5A2A6E"/>
            </a:solidFill>
            <a:prstDash val="solid"/>
          </a:ln>
        </p:spPr>
      </p:sp>
      <p:sp>
        <p:nvSpPr>
          <p:cNvPr id="25" name="ring 05"/>
          <p:cNvSpPr/>
          <p:nvPr/>
        </p:nvSpPr>
        <p:spPr>
          <a:xfrm>
            <a:off x="822960" y="4892040"/>
            <a:ext cx="640080" cy="640080"/>
          </a:xfrm>
          <a:prstGeom prst="ellipse">
            <a:avLst/>
          </a:prstGeom>
          <a:solidFill>
            <a:srgbClr val="1A0420"/>
          </a:solidFill>
          <a:ln w="25400">
            <a:solidFill>
              <a:schemeClr val="accent5"/>
            </a:solidFill>
            <a:prstDash val="solid"/>
          </a:ln>
        </p:spPr>
      </p:sp>
      <p:sp>
        <p:nvSpPr>
          <p:cNvPr id="26" name="Text 24"/>
          <p:cNvSpPr txBox="1"/>
          <p:nvPr/>
        </p:nvSpPr>
        <p:spPr>
          <a:xfrm>
            <a:off x="822960" y="4892040"/>
            <a:ext cx="640080" cy="640080"/>
          </a:xfrm>
          <a:prstGeom prst="rect">
            <a:avLst/>
          </a:prstGeom>
          <a:noFill/>
          <a:ln/>
        </p:spPr>
        <p:txBody>
          <a:bodyPr wrap="square" lIns="0" tIns="0" rIns="0" bIns="0" rtlCol="0" anchor="ctr"/>
          <a:lstStyle/>
          <a:p>
            <a:pPr algn="ctr" indent="0" marL="0">
              <a:buNone/>
            </a:pPr>
            <a:r>
              <a:rPr lang="en-US" sz="1400" b="1" dirty="0">
                <a:solidFill>
                  <a:schemeClr val="accent5"/>
                </a:solidFill>
              </a:rPr>
              <a:t>05</a:t>
            </a:r>
            <a:endParaRPr lang="en-US" sz="1400" dirty="0"/>
          </a:p>
        </p:txBody>
      </p:sp>
      <p:sp>
        <p:nvSpPr>
          <p:cNvPr id="27" name="Text 25"/>
          <p:cNvSpPr txBox="1"/>
          <p:nvPr/>
        </p:nvSpPr>
        <p:spPr>
          <a:xfrm>
            <a:off x="1691640" y="4864608"/>
            <a:ext cx="4114800" cy="384048"/>
          </a:xfrm>
          <a:prstGeom prst="rect">
            <a:avLst/>
          </a:prstGeom>
          <a:noFill/>
          <a:ln/>
        </p:spPr>
        <p:txBody>
          <a:bodyPr wrap="square" lIns="0" tIns="0" rIns="0" bIns="0" rtlCol="0" anchor="t"/>
          <a:lstStyle/>
          <a:p>
            <a:pPr indent="0" marL="0">
              <a:buNone/>
            </a:pPr>
            <a:r>
              <a:rPr lang="en-US" sz="1800" b="1" dirty="0">
                <a:solidFill>
                  <a:schemeClr val="bg1"/>
                </a:solidFill>
              </a:rPr>
              <a:t>Sustainable AI — 12 Dimensions</a:t>
            </a:r>
            <a:endParaRPr lang="en-US" sz="1800" dirty="0"/>
          </a:p>
        </p:txBody>
      </p:sp>
      <p:sp>
        <p:nvSpPr>
          <p:cNvPr id="28" name="Text 26"/>
          <p:cNvSpPr txBox="1"/>
          <p:nvPr/>
        </p:nvSpPr>
        <p:spPr>
          <a:xfrm>
            <a:off x="1691640" y="5276088"/>
            <a:ext cx="4114800" cy="329184"/>
          </a:xfrm>
          <a:prstGeom prst="rect">
            <a:avLst/>
          </a:prstGeom>
          <a:noFill/>
          <a:ln/>
        </p:spPr>
        <p:txBody>
          <a:bodyPr wrap="square" lIns="0" tIns="0" rIns="0" bIns="0" rtlCol="0" anchor="t"/>
          <a:lstStyle/>
          <a:p>
            <a:pPr indent="0" marL="0">
              <a:buNone/>
            </a:pPr>
            <a:r>
              <a:rPr lang="en-US" sz="1400" dirty="0">
                <a:solidFill>
                  <a:schemeClr val="bg2"/>
                </a:solidFill>
              </a:rPr>
              <a:t>Greening of AI and AI for greening</a:t>
            </a:r>
            <a:endParaRPr lang="en-US" sz="1400" dirty="0"/>
          </a:p>
        </p:txBody>
      </p:sp>
      <p:sp>
        <p:nvSpPr>
          <p:cNvPr id="29" name="agenda 6"/>
          <p:cNvSpPr/>
          <p:nvPr/>
        </p:nvSpPr>
        <p:spPr>
          <a:xfrm>
            <a:off x="6172200" y="4617720"/>
            <a:ext cx="5440680" cy="1188720"/>
          </a:xfrm>
          <a:prstGeom prst="roundRect">
            <a:avLst>
              <a:gd name="adj" fmla="val 9231"/>
            </a:avLst>
          </a:prstGeom>
          <a:solidFill>
            <a:schemeClr val="tx2"/>
          </a:solidFill>
          <a:ln w="9525">
            <a:solidFill>
              <a:srgbClr val="5A2A6E"/>
            </a:solidFill>
            <a:prstDash val="solid"/>
          </a:ln>
        </p:spPr>
      </p:sp>
      <p:sp>
        <p:nvSpPr>
          <p:cNvPr id="30" name="ring 06"/>
          <p:cNvSpPr/>
          <p:nvPr/>
        </p:nvSpPr>
        <p:spPr>
          <a:xfrm>
            <a:off x="6446520" y="4892040"/>
            <a:ext cx="640080" cy="640080"/>
          </a:xfrm>
          <a:prstGeom prst="ellipse">
            <a:avLst/>
          </a:prstGeom>
          <a:solidFill>
            <a:srgbClr val="1A0420"/>
          </a:solidFill>
          <a:ln w="25400">
            <a:solidFill>
              <a:schemeClr val="accent6"/>
            </a:solidFill>
            <a:prstDash val="solid"/>
          </a:ln>
        </p:spPr>
      </p:sp>
      <p:sp>
        <p:nvSpPr>
          <p:cNvPr id="31" name="Text 29"/>
          <p:cNvSpPr txBox="1"/>
          <p:nvPr/>
        </p:nvSpPr>
        <p:spPr>
          <a:xfrm>
            <a:off x="6446520" y="4892040"/>
            <a:ext cx="640080" cy="640080"/>
          </a:xfrm>
          <a:prstGeom prst="rect">
            <a:avLst/>
          </a:prstGeom>
          <a:noFill/>
          <a:ln/>
        </p:spPr>
        <p:txBody>
          <a:bodyPr wrap="square" lIns="0" tIns="0" rIns="0" bIns="0" rtlCol="0" anchor="ctr"/>
          <a:lstStyle/>
          <a:p>
            <a:pPr algn="ctr" indent="0" marL="0">
              <a:buNone/>
            </a:pPr>
            <a:r>
              <a:rPr lang="en-US" sz="1400" b="1" dirty="0">
                <a:solidFill>
                  <a:schemeClr val="accent6"/>
                </a:solidFill>
              </a:rPr>
              <a:t>06</a:t>
            </a:r>
            <a:endParaRPr lang="en-US" sz="1400" dirty="0"/>
          </a:p>
        </p:txBody>
      </p:sp>
      <p:sp>
        <p:nvSpPr>
          <p:cNvPr id="32" name="Text 30"/>
          <p:cNvSpPr txBox="1"/>
          <p:nvPr/>
        </p:nvSpPr>
        <p:spPr>
          <a:xfrm>
            <a:off x="7315200" y="4864608"/>
            <a:ext cx="4114800" cy="384048"/>
          </a:xfrm>
          <a:prstGeom prst="rect">
            <a:avLst/>
          </a:prstGeom>
          <a:noFill/>
          <a:ln/>
        </p:spPr>
        <p:txBody>
          <a:bodyPr wrap="square" lIns="0" tIns="0" rIns="0" bIns="0" rtlCol="0" anchor="t"/>
          <a:lstStyle/>
          <a:p>
            <a:pPr indent="0" marL="0">
              <a:buNone/>
            </a:pPr>
            <a:r>
              <a:rPr lang="en-US" sz="1800" b="1" dirty="0">
                <a:solidFill>
                  <a:schemeClr val="bg1"/>
                </a:solidFill>
              </a:rPr>
              <a:t>Sustainable Business Continuity</a:t>
            </a:r>
            <a:endParaRPr lang="en-US" sz="1800" dirty="0"/>
          </a:p>
        </p:txBody>
      </p:sp>
      <p:sp>
        <p:nvSpPr>
          <p:cNvPr id="33" name="Text 31"/>
          <p:cNvSpPr txBox="1"/>
          <p:nvPr/>
        </p:nvSpPr>
        <p:spPr>
          <a:xfrm>
            <a:off x="7315200" y="5276088"/>
            <a:ext cx="4114800" cy="329184"/>
          </a:xfrm>
          <a:prstGeom prst="rect">
            <a:avLst/>
          </a:prstGeom>
          <a:noFill/>
          <a:ln/>
        </p:spPr>
        <p:txBody>
          <a:bodyPr wrap="square" lIns="0" tIns="0" rIns="0" bIns="0" rtlCol="0" anchor="t"/>
          <a:lstStyle/>
          <a:p>
            <a:pPr indent="0" marL="0">
              <a:buNone/>
            </a:pPr>
            <a:r>
              <a:rPr lang="en-US" sz="1400" dirty="0">
                <a:solidFill>
                  <a:schemeClr val="bg2"/>
                </a:solidFill>
              </a:rPr>
              <a:t>Six dimensions of resilient, green operations</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01 · ORIGINS</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From rescue tool to prediction engine</a:t>
            </a:r>
            <a:endParaRPr lang="en-US" sz="2800" dirty="0"/>
          </a:p>
        </p:txBody>
      </p:sp>
      <p:pic>
        <p:nvPicPr>
          <p:cNvPr id="4" name="Apollo-era engineers at a lunar module replica and at Mission Control" descr="Apollo-era engineers at a lunar module replica and at Mission Control">    </p:cNvPr>
          <p:cNvPicPr>
            <a:picLocks noChangeAspect="1"/>
          </p:cNvPicPr>
          <p:nvPr/>
        </p:nvPicPr>
        <p:blipFill>
          <a:blip r:embed="rId1"/>
          <a:stretch>
            <a:fillRect/>
          </a:stretch>
        </p:blipFill>
        <p:spPr>
          <a:xfrm>
            <a:off x="548640" y="1737360"/>
            <a:ext cx="5852160" cy="3264408"/>
          </a:xfrm>
          <a:prstGeom prst="rect">
            <a:avLst/>
          </a:prstGeom>
        </p:spPr>
      </p:pic>
      <p:sp>
        <p:nvSpPr>
          <p:cNvPr id="5" name="Text 2"/>
          <p:cNvSpPr txBox="1"/>
          <p:nvPr/>
        </p:nvSpPr>
        <p:spPr>
          <a:xfrm>
            <a:off x="548640" y="5120640"/>
            <a:ext cx="5852160" cy="274320"/>
          </a:xfrm>
          <a:prstGeom prst="rect">
            <a:avLst/>
          </a:prstGeom>
          <a:noFill/>
          <a:ln/>
        </p:spPr>
        <p:txBody>
          <a:bodyPr wrap="square" lIns="0" tIns="0" rIns="0" bIns="0" rtlCol="0" anchor="t"/>
          <a:lstStyle/>
          <a:p>
            <a:pPr indent="0" marL="0">
              <a:buNone/>
            </a:pPr>
            <a:r>
              <a:rPr lang="en-US" sz="1100" i="1" dirty="0">
                <a:solidFill>
                  <a:schemeClr val="bg2"/>
                </a:solidFill>
              </a:rPr>
              <a:t>Apollo 13, 1970: ground replicas and simulators at Mission Control</a:t>
            </a:r>
            <a:endParaRPr lang="en-US" sz="1100" dirty="0"/>
          </a:p>
        </p:txBody>
      </p:sp>
      <p:sp>
        <p:nvSpPr>
          <p:cNvPr id="6" name="ring 1970"/>
          <p:cNvSpPr/>
          <p:nvPr/>
        </p:nvSpPr>
        <p:spPr>
          <a:xfrm>
            <a:off x="6812280" y="1737360"/>
            <a:ext cx="777240" cy="777240"/>
          </a:xfrm>
          <a:prstGeom prst="ellipse">
            <a:avLst/>
          </a:prstGeom>
          <a:solidFill>
            <a:srgbClr val="1A0420"/>
          </a:solidFill>
          <a:ln w="25400">
            <a:solidFill>
              <a:schemeClr val="accent3"/>
            </a:solidFill>
            <a:prstDash val="solid"/>
          </a:ln>
        </p:spPr>
      </p:sp>
      <p:sp>
        <p:nvSpPr>
          <p:cNvPr id="7" name="Text 4"/>
          <p:cNvSpPr txBox="1"/>
          <p:nvPr/>
        </p:nvSpPr>
        <p:spPr>
          <a:xfrm>
            <a:off x="6812280" y="1737360"/>
            <a:ext cx="777240" cy="777240"/>
          </a:xfrm>
          <a:prstGeom prst="rect">
            <a:avLst/>
          </a:prstGeom>
          <a:noFill/>
          <a:ln/>
        </p:spPr>
        <p:txBody>
          <a:bodyPr wrap="square" lIns="0" tIns="0" rIns="0" bIns="0" rtlCol="0" anchor="ctr"/>
          <a:lstStyle/>
          <a:p>
            <a:pPr algn="ctr" indent="0" marL="0">
              <a:buNone/>
            </a:pPr>
            <a:r>
              <a:rPr lang="en-US" sz="1200" b="1" dirty="0">
                <a:solidFill>
                  <a:schemeClr val="accent3"/>
                </a:solidFill>
              </a:rPr>
              <a:t>1970</a:t>
            </a:r>
            <a:endParaRPr lang="en-US" sz="1200" dirty="0"/>
          </a:p>
        </p:txBody>
      </p:sp>
      <p:sp>
        <p:nvSpPr>
          <p:cNvPr id="8" name="Text 5"/>
          <p:cNvSpPr txBox="1"/>
          <p:nvPr/>
        </p:nvSpPr>
        <p:spPr>
          <a:xfrm>
            <a:off x="7818120" y="1719072"/>
            <a:ext cx="3840480" cy="365760"/>
          </a:xfrm>
          <a:prstGeom prst="rect">
            <a:avLst/>
          </a:prstGeom>
          <a:noFill/>
          <a:ln/>
        </p:spPr>
        <p:txBody>
          <a:bodyPr wrap="square" lIns="0" tIns="0" rIns="0" bIns="0" rtlCol="0" anchor="t"/>
          <a:lstStyle/>
          <a:p>
            <a:pPr indent="0" marL="0">
              <a:buNone/>
            </a:pPr>
            <a:r>
              <a:rPr lang="en-US" sz="1700" b="1" dirty="0">
                <a:solidFill>
                  <a:schemeClr val="accent3"/>
                </a:solidFill>
              </a:rPr>
              <a:t>The precursor: Apollo 13</a:t>
            </a:r>
            <a:endParaRPr lang="en-US" sz="1700" dirty="0"/>
          </a:p>
        </p:txBody>
      </p:sp>
      <p:sp>
        <p:nvSpPr>
          <p:cNvPr id="9" name="Text 6"/>
          <p:cNvSpPr txBox="1"/>
          <p:nvPr/>
        </p:nvSpPr>
        <p:spPr>
          <a:xfrm>
            <a:off x="7818120" y="2103120"/>
            <a:ext cx="3840480" cy="960120"/>
          </a:xfrm>
          <a:prstGeom prst="rect">
            <a:avLst/>
          </a:prstGeom>
          <a:noFill/>
          <a:ln/>
        </p:spPr>
        <p:txBody>
          <a:bodyPr wrap="square" lIns="0" tIns="0" rIns="0" bIns="0" rtlCol="0" anchor="t"/>
          <a:lstStyle/>
          <a:p>
            <a:pPr indent="0" marL="0">
              <a:buNone/>
            </a:pPr>
            <a:r>
              <a:rPr lang="en-US" sz="1400" dirty="0">
                <a:solidFill>
                  <a:schemeClr val="bg2"/>
                </a:solidFill>
              </a:rPr>
              <a:t>Telemetry from the damaged craft fed ground simulators to test burns, power and trajectory before radioing the crew.</a:t>
            </a:r>
            <a:endParaRPr lang="en-US" sz="1400" dirty="0"/>
          </a:p>
        </p:txBody>
      </p:sp>
      <p:sp>
        <p:nvSpPr>
          <p:cNvPr id="10" name="ring 2002"/>
          <p:cNvSpPr/>
          <p:nvPr/>
        </p:nvSpPr>
        <p:spPr>
          <a:xfrm>
            <a:off x="6812280" y="3200400"/>
            <a:ext cx="777240" cy="777240"/>
          </a:xfrm>
          <a:prstGeom prst="ellipse">
            <a:avLst/>
          </a:prstGeom>
          <a:solidFill>
            <a:srgbClr val="1A0420"/>
          </a:solidFill>
          <a:ln w="25400">
            <a:solidFill>
              <a:schemeClr val="accent1"/>
            </a:solidFill>
            <a:prstDash val="solid"/>
          </a:ln>
        </p:spPr>
      </p:sp>
      <p:sp>
        <p:nvSpPr>
          <p:cNvPr id="11" name="Text 8"/>
          <p:cNvSpPr txBox="1"/>
          <p:nvPr/>
        </p:nvSpPr>
        <p:spPr>
          <a:xfrm>
            <a:off x="6812280" y="3200400"/>
            <a:ext cx="777240" cy="777240"/>
          </a:xfrm>
          <a:prstGeom prst="rect">
            <a:avLst/>
          </a:prstGeom>
          <a:noFill/>
          <a:ln/>
        </p:spPr>
        <p:txBody>
          <a:bodyPr wrap="square" lIns="0" tIns="0" rIns="0" bIns="0" rtlCol="0" anchor="ctr"/>
          <a:lstStyle/>
          <a:p>
            <a:pPr algn="ctr" indent="0" marL="0">
              <a:buNone/>
            </a:pPr>
            <a:r>
              <a:rPr lang="en-US" sz="1200" b="1" dirty="0">
                <a:solidFill>
                  <a:schemeClr val="accent1"/>
                </a:solidFill>
              </a:rPr>
              <a:t>2002</a:t>
            </a:r>
            <a:endParaRPr lang="en-US" sz="1200" dirty="0"/>
          </a:p>
        </p:txBody>
      </p:sp>
      <p:sp>
        <p:nvSpPr>
          <p:cNvPr id="12" name="Text 9"/>
          <p:cNvSpPr txBox="1"/>
          <p:nvPr/>
        </p:nvSpPr>
        <p:spPr>
          <a:xfrm>
            <a:off x="7818120" y="3182112"/>
            <a:ext cx="3840480" cy="365760"/>
          </a:xfrm>
          <a:prstGeom prst="rect">
            <a:avLst/>
          </a:prstGeom>
          <a:noFill/>
          <a:ln/>
        </p:spPr>
        <p:txBody>
          <a:bodyPr wrap="square" lIns="0" tIns="0" rIns="0" bIns="0" rtlCol="0" anchor="t"/>
          <a:lstStyle/>
          <a:p>
            <a:pPr indent="0" marL="0">
              <a:buNone/>
            </a:pPr>
            <a:r>
              <a:rPr lang="en-US" sz="1700" b="1" dirty="0">
                <a:solidFill>
                  <a:schemeClr val="accent1"/>
                </a:solidFill>
              </a:rPr>
              <a:t>The architecture: PLM</a:t>
            </a:r>
            <a:endParaRPr lang="en-US" sz="1700" dirty="0"/>
          </a:p>
        </p:txBody>
      </p:sp>
      <p:sp>
        <p:nvSpPr>
          <p:cNvPr id="13" name="Text 10"/>
          <p:cNvSpPr txBox="1"/>
          <p:nvPr/>
        </p:nvSpPr>
        <p:spPr>
          <a:xfrm>
            <a:off x="7818120" y="3566160"/>
            <a:ext cx="3840480" cy="960120"/>
          </a:xfrm>
          <a:prstGeom prst="rect">
            <a:avLst/>
          </a:prstGeom>
          <a:noFill/>
          <a:ln/>
        </p:spPr>
        <p:txBody>
          <a:bodyPr wrap="square" lIns="0" tIns="0" rIns="0" bIns="0" rtlCol="0" anchor="t"/>
          <a:lstStyle/>
          <a:p>
            <a:pPr indent="0" marL="0">
              <a:buNone/>
            </a:pPr>
            <a:r>
              <a:rPr lang="en-US" sz="1400" dirty="0">
                <a:solidFill>
                  <a:schemeClr val="bg2"/>
                </a:solidFill>
              </a:rPr>
              <a:t>Dr. Michael Grieves: a physical entity, a virtual entity, and two-way data loops between them.</a:t>
            </a:r>
            <a:endParaRPr lang="en-US" sz="1400" dirty="0"/>
          </a:p>
        </p:txBody>
      </p:sp>
      <p:sp>
        <p:nvSpPr>
          <p:cNvPr id="14" name="ring 2010"/>
          <p:cNvSpPr/>
          <p:nvPr/>
        </p:nvSpPr>
        <p:spPr>
          <a:xfrm>
            <a:off x="6812280" y="4663440"/>
            <a:ext cx="777240" cy="777240"/>
          </a:xfrm>
          <a:prstGeom prst="ellipse">
            <a:avLst/>
          </a:prstGeom>
          <a:solidFill>
            <a:srgbClr val="1A0420"/>
          </a:solidFill>
          <a:ln w="25400">
            <a:solidFill>
              <a:schemeClr val="accent5"/>
            </a:solidFill>
            <a:prstDash val="solid"/>
          </a:ln>
        </p:spPr>
      </p:sp>
      <p:sp>
        <p:nvSpPr>
          <p:cNvPr id="15" name="Text 12"/>
          <p:cNvSpPr txBox="1"/>
          <p:nvPr/>
        </p:nvSpPr>
        <p:spPr>
          <a:xfrm>
            <a:off x="6812280" y="4663440"/>
            <a:ext cx="777240" cy="777240"/>
          </a:xfrm>
          <a:prstGeom prst="rect">
            <a:avLst/>
          </a:prstGeom>
          <a:noFill/>
          <a:ln/>
        </p:spPr>
        <p:txBody>
          <a:bodyPr wrap="square" lIns="0" tIns="0" rIns="0" bIns="0" rtlCol="0" anchor="ctr"/>
          <a:lstStyle/>
          <a:p>
            <a:pPr algn="ctr" indent="0" marL="0">
              <a:buNone/>
            </a:pPr>
            <a:r>
              <a:rPr lang="en-US" sz="1200" b="1" dirty="0">
                <a:solidFill>
                  <a:schemeClr val="accent5"/>
                </a:solidFill>
              </a:rPr>
              <a:t>2010</a:t>
            </a:r>
            <a:endParaRPr lang="en-US" sz="1200" dirty="0"/>
          </a:p>
        </p:txBody>
      </p:sp>
      <p:sp>
        <p:nvSpPr>
          <p:cNvPr id="16" name="Text 13"/>
          <p:cNvSpPr txBox="1"/>
          <p:nvPr/>
        </p:nvSpPr>
        <p:spPr>
          <a:xfrm>
            <a:off x="7818120" y="4645152"/>
            <a:ext cx="3840480" cy="365760"/>
          </a:xfrm>
          <a:prstGeom prst="rect">
            <a:avLst/>
          </a:prstGeom>
          <a:noFill/>
          <a:ln/>
        </p:spPr>
        <p:txBody>
          <a:bodyPr wrap="square" lIns="0" tIns="0" rIns="0" bIns="0" rtlCol="0" anchor="t"/>
          <a:lstStyle/>
          <a:p>
            <a:pPr indent="0" marL="0">
              <a:buNone/>
            </a:pPr>
            <a:r>
              <a:rPr lang="en-US" sz="1700" b="1" dirty="0">
                <a:solidFill>
                  <a:schemeClr val="accent5"/>
                </a:solidFill>
              </a:rPr>
              <a:t>The name: NASA roadmap</a:t>
            </a:r>
            <a:endParaRPr lang="en-US" sz="1700" dirty="0"/>
          </a:p>
        </p:txBody>
      </p:sp>
      <p:sp>
        <p:nvSpPr>
          <p:cNvPr id="17" name="Text 14"/>
          <p:cNvSpPr txBox="1"/>
          <p:nvPr/>
        </p:nvSpPr>
        <p:spPr>
          <a:xfrm>
            <a:off x="7818120" y="5029200"/>
            <a:ext cx="3840480" cy="960120"/>
          </a:xfrm>
          <a:prstGeom prst="rect">
            <a:avLst/>
          </a:prstGeom>
          <a:noFill/>
          <a:ln/>
        </p:spPr>
        <p:txBody>
          <a:bodyPr wrap="square" lIns="0" tIns="0" rIns="0" bIns="0" rtlCol="0" anchor="t"/>
          <a:lstStyle/>
          <a:p>
            <a:pPr indent="0" marL="0">
              <a:buNone/>
            </a:pPr>
            <a:r>
              <a:rPr lang="en-US" sz="1400" dirty="0">
                <a:solidFill>
                  <a:schemeClr val="bg2"/>
                </a:solidFill>
              </a:rPr>
              <a:t>John Vickers coins “Digital Twin”: one physics model per vehicle to predict fatigue and remaining life.</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02 · APPLICATION AREAS</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AI twins already pay off across six domains</a:t>
            </a:r>
            <a:endParaRPr lang="en-US" sz="2800" dirty="0"/>
          </a:p>
        </p:txBody>
      </p:sp>
      <p:pic>
        <p:nvPicPr>
          <p:cNvPr id="4" name="Wheel of six AI digital twin application areas" descr="Wheel of six AI digital twin application areas">    </p:cNvPr>
          <p:cNvPicPr>
            <a:picLocks noChangeAspect="1"/>
          </p:cNvPicPr>
          <p:nvPr/>
        </p:nvPicPr>
        <p:blipFill>
          <a:blip r:embed="rId1"/>
          <a:stretch>
            <a:fillRect/>
          </a:stretch>
        </p:blipFill>
        <p:spPr>
          <a:xfrm>
            <a:off x="548640" y="1600200"/>
            <a:ext cx="4526280" cy="4526280"/>
          </a:xfrm>
          <a:prstGeom prst="rect">
            <a:avLst/>
          </a:prstGeom>
        </p:spPr>
      </p:pic>
      <p:sp>
        <p:nvSpPr>
          <p:cNvPr id="5" name="ring 1"/>
          <p:cNvSpPr/>
          <p:nvPr/>
        </p:nvSpPr>
        <p:spPr>
          <a:xfrm>
            <a:off x="5486400" y="1691640"/>
            <a:ext cx="502920" cy="502920"/>
          </a:xfrm>
          <a:prstGeom prst="ellipse">
            <a:avLst/>
          </a:prstGeom>
          <a:solidFill>
            <a:srgbClr val="1A0420"/>
          </a:solidFill>
          <a:ln w="25400">
            <a:solidFill>
              <a:schemeClr val="accent3"/>
            </a:solidFill>
            <a:prstDash val="solid"/>
          </a:ln>
        </p:spPr>
      </p:sp>
      <p:sp>
        <p:nvSpPr>
          <p:cNvPr id="6" name="Text 3"/>
          <p:cNvSpPr txBox="1"/>
          <p:nvPr/>
        </p:nvSpPr>
        <p:spPr>
          <a:xfrm>
            <a:off x="5486400" y="1691640"/>
            <a:ext cx="502920" cy="502920"/>
          </a:xfrm>
          <a:prstGeom prst="rect">
            <a:avLst/>
          </a:prstGeom>
          <a:noFill/>
          <a:ln/>
        </p:spPr>
        <p:txBody>
          <a:bodyPr wrap="square" lIns="0" tIns="0" rIns="0" bIns="0" rtlCol="0" anchor="ctr"/>
          <a:lstStyle/>
          <a:p>
            <a:pPr algn="ctr" indent="0" marL="0">
              <a:buNone/>
            </a:pPr>
            <a:r>
              <a:rPr lang="en-US" sz="1300" b="1" dirty="0">
                <a:solidFill>
                  <a:schemeClr val="accent3"/>
                </a:solidFill>
              </a:rPr>
              <a:t>1</a:t>
            </a:r>
            <a:endParaRPr lang="en-US" sz="1300" dirty="0"/>
          </a:p>
        </p:txBody>
      </p:sp>
      <p:sp>
        <p:nvSpPr>
          <p:cNvPr id="7" name="Text 4"/>
          <p:cNvSpPr txBox="1"/>
          <p:nvPr/>
        </p:nvSpPr>
        <p:spPr>
          <a:xfrm>
            <a:off x="6217920" y="1645920"/>
            <a:ext cx="5440680" cy="329184"/>
          </a:xfrm>
          <a:prstGeom prst="rect">
            <a:avLst/>
          </a:prstGeom>
          <a:noFill/>
          <a:ln/>
        </p:spPr>
        <p:txBody>
          <a:bodyPr wrap="square" lIns="0" tIns="0" rIns="0" bIns="0" rtlCol="0" anchor="t"/>
          <a:lstStyle/>
          <a:p>
            <a:pPr indent="0" marL="0">
              <a:buNone/>
            </a:pPr>
            <a:r>
              <a:rPr lang="en-US" sz="1600" b="1" dirty="0">
                <a:solidFill>
                  <a:schemeClr val="bg1"/>
                </a:solidFill>
              </a:rPr>
              <a:t>Smart Manufacturing</a:t>
            </a:r>
            <a:endParaRPr lang="en-US" sz="1600" dirty="0"/>
          </a:p>
        </p:txBody>
      </p:sp>
      <p:sp>
        <p:nvSpPr>
          <p:cNvPr id="8" name="Text 5"/>
          <p:cNvSpPr txBox="1"/>
          <p:nvPr/>
        </p:nvSpPr>
        <p:spPr>
          <a:xfrm>
            <a:off x="6217920" y="1975104"/>
            <a:ext cx="5440680" cy="310896"/>
          </a:xfrm>
          <a:prstGeom prst="rect">
            <a:avLst/>
          </a:prstGeom>
          <a:noFill/>
          <a:ln/>
        </p:spPr>
        <p:txBody>
          <a:bodyPr wrap="square" lIns="0" tIns="0" rIns="0" bIns="0" rtlCol="0" anchor="t"/>
          <a:lstStyle/>
          <a:p>
            <a:pPr indent="0" marL="0">
              <a:buNone/>
            </a:pPr>
            <a:r>
              <a:rPr lang="en-US" sz="1400" dirty="0">
                <a:solidFill>
                  <a:schemeClr val="bg2"/>
                </a:solidFill>
              </a:rPr>
              <a:t>Predictive maintenance, virtual commissioning, RL-tuned lines</a:t>
            </a:r>
            <a:endParaRPr lang="en-US" sz="1400" dirty="0"/>
          </a:p>
        </p:txBody>
      </p:sp>
      <p:sp>
        <p:nvSpPr>
          <p:cNvPr id="9" name="ring 2"/>
          <p:cNvSpPr/>
          <p:nvPr/>
        </p:nvSpPr>
        <p:spPr>
          <a:xfrm>
            <a:off x="5486400" y="2441448"/>
            <a:ext cx="502920" cy="502920"/>
          </a:xfrm>
          <a:prstGeom prst="ellipse">
            <a:avLst/>
          </a:prstGeom>
          <a:solidFill>
            <a:srgbClr val="1A0420"/>
          </a:solidFill>
          <a:ln w="25400">
            <a:solidFill>
              <a:schemeClr val="accent4"/>
            </a:solidFill>
            <a:prstDash val="solid"/>
          </a:ln>
        </p:spPr>
      </p:sp>
      <p:sp>
        <p:nvSpPr>
          <p:cNvPr id="10" name="Text 7"/>
          <p:cNvSpPr txBox="1"/>
          <p:nvPr/>
        </p:nvSpPr>
        <p:spPr>
          <a:xfrm>
            <a:off x="5486400" y="2441448"/>
            <a:ext cx="502920" cy="502920"/>
          </a:xfrm>
          <a:prstGeom prst="rect">
            <a:avLst/>
          </a:prstGeom>
          <a:noFill/>
          <a:ln/>
        </p:spPr>
        <p:txBody>
          <a:bodyPr wrap="square" lIns="0" tIns="0" rIns="0" bIns="0" rtlCol="0" anchor="ctr"/>
          <a:lstStyle/>
          <a:p>
            <a:pPr algn="ctr" indent="0" marL="0">
              <a:buNone/>
            </a:pPr>
            <a:r>
              <a:rPr lang="en-US" sz="1300" b="1" dirty="0">
                <a:solidFill>
                  <a:schemeClr val="accent4"/>
                </a:solidFill>
              </a:rPr>
              <a:t>2</a:t>
            </a:r>
            <a:endParaRPr lang="en-US" sz="1300" dirty="0"/>
          </a:p>
        </p:txBody>
      </p:sp>
      <p:sp>
        <p:nvSpPr>
          <p:cNvPr id="11" name="Text 8"/>
          <p:cNvSpPr txBox="1"/>
          <p:nvPr/>
        </p:nvSpPr>
        <p:spPr>
          <a:xfrm>
            <a:off x="6217920" y="2395728"/>
            <a:ext cx="5440680" cy="329184"/>
          </a:xfrm>
          <a:prstGeom prst="rect">
            <a:avLst/>
          </a:prstGeom>
          <a:noFill/>
          <a:ln/>
        </p:spPr>
        <p:txBody>
          <a:bodyPr wrap="square" lIns="0" tIns="0" rIns="0" bIns="0" rtlCol="0" anchor="t"/>
          <a:lstStyle/>
          <a:p>
            <a:pPr indent="0" marL="0">
              <a:buNone/>
            </a:pPr>
            <a:r>
              <a:rPr lang="en-US" sz="1600" b="1" dirty="0">
                <a:solidFill>
                  <a:schemeClr val="bg1"/>
                </a:solidFill>
              </a:rPr>
              <a:t>Energy &amp; Utilities</a:t>
            </a:r>
            <a:endParaRPr lang="en-US" sz="1600" dirty="0"/>
          </a:p>
        </p:txBody>
      </p:sp>
      <p:sp>
        <p:nvSpPr>
          <p:cNvPr id="12" name="Text 9"/>
          <p:cNvSpPr txBox="1"/>
          <p:nvPr/>
        </p:nvSpPr>
        <p:spPr>
          <a:xfrm>
            <a:off x="6217920" y="2724912"/>
            <a:ext cx="5440680" cy="310896"/>
          </a:xfrm>
          <a:prstGeom prst="rect">
            <a:avLst/>
          </a:prstGeom>
          <a:noFill/>
          <a:ln/>
        </p:spPr>
        <p:txBody>
          <a:bodyPr wrap="square" lIns="0" tIns="0" rIns="0" bIns="0" rtlCol="0" anchor="t"/>
          <a:lstStyle/>
          <a:p>
            <a:pPr indent="0" marL="0">
              <a:buNone/>
            </a:pPr>
            <a:r>
              <a:rPr lang="en-US" sz="1400" dirty="0">
                <a:solidFill>
                  <a:schemeClr val="bg2"/>
                </a:solidFill>
              </a:rPr>
              <a:t>Turbine health, dynamic grid balancing, pipeline integrity</a:t>
            </a:r>
            <a:endParaRPr lang="en-US" sz="1400" dirty="0"/>
          </a:p>
        </p:txBody>
      </p:sp>
      <p:sp>
        <p:nvSpPr>
          <p:cNvPr id="13" name="ring 3"/>
          <p:cNvSpPr/>
          <p:nvPr/>
        </p:nvSpPr>
        <p:spPr>
          <a:xfrm>
            <a:off x="5486400" y="3191256"/>
            <a:ext cx="502920" cy="502920"/>
          </a:xfrm>
          <a:prstGeom prst="ellipse">
            <a:avLst/>
          </a:prstGeom>
          <a:solidFill>
            <a:srgbClr val="1A0420"/>
          </a:solidFill>
          <a:ln w="25400">
            <a:solidFill>
              <a:schemeClr val="accent1"/>
            </a:solidFill>
            <a:prstDash val="solid"/>
          </a:ln>
        </p:spPr>
      </p:sp>
      <p:sp>
        <p:nvSpPr>
          <p:cNvPr id="14" name="Text 11"/>
          <p:cNvSpPr txBox="1"/>
          <p:nvPr/>
        </p:nvSpPr>
        <p:spPr>
          <a:xfrm>
            <a:off x="5486400" y="3191256"/>
            <a:ext cx="502920" cy="502920"/>
          </a:xfrm>
          <a:prstGeom prst="rect">
            <a:avLst/>
          </a:prstGeom>
          <a:noFill/>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5" name="Text 12"/>
          <p:cNvSpPr txBox="1"/>
          <p:nvPr/>
        </p:nvSpPr>
        <p:spPr>
          <a:xfrm>
            <a:off x="6217920" y="3145536"/>
            <a:ext cx="5440680" cy="329184"/>
          </a:xfrm>
          <a:prstGeom prst="rect">
            <a:avLst/>
          </a:prstGeom>
          <a:noFill/>
          <a:ln/>
        </p:spPr>
        <p:txBody>
          <a:bodyPr wrap="square" lIns="0" tIns="0" rIns="0" bIns="0" rtlCol="0" anchor="t"/>
          <a:lstStyle/>
          <a:p>
            <a:pPr indent="0" marL="0">
              <a:buNone/>
            </a:pPr>
            <a:r>
              <a:rPr lang="en-US" sz="1600" b="1" dirty="0">
                <a:solidFill>
                  <a:schemeClr val="bg1"/>
                </a:solidFill>
              </a:rPr>
              <a:t>Supply Chain &amp; Logistics</a:t>
            </a:r>
            <a:endParaRPr lang="en-US" sz="1600" dirty="0"/>
          </a:p>
        </p:txBody>
      </p:sp>
      <p:sp>
        <p:nvSpPr>
          <p:cNvPr id="16" name="Text 13"/>
          <p:cNvSpPr txBox="1"/>
          <p:nvPr/>
        </p:nvSpPr>
        <p:spPr>
          <a:xfrm>
            <a:off x="6217920" y="3474720"/>
            <a:ext cx="5440680" cy="310896"/>
          </a:xfrm>
          <a:prstGeom prst="rect">
            <a:avLst/>
          </a:prstGeom>
          <a:noFill/>
          <a:ln/>
        </p:spPr>
        <p:txBody>
          <a:bodyPr wrap="square" lIns="0" tIns="0" rIns="0" bIns="0" rtlCol="0" anchor="t"/>
          <a:lstStyle/>
          <a:p>
            <a:pPr indent="0" marL="0">
              <a:buNone/>
            </a:pPr>
            <a:r>
              <a:rPr lang="en-US" sz="1400" dirty="0">
                <a:solidFill>
                  <a:schemeClr val="bg2"/>
                </a:solidFill>
              </a:rPr>
              <a:t>Warehouse orchestration, what-if stress tests, Scope 3 tracking</a:t>
            </a:r>
            <a:endParaRPr lang="en-US" sz="1400" dirty="0"/>
          </a:p>
        </p:txBody>
      </p:sp>
      <p:sp>
        <p:nvSpPr>
          <p:cNvPr id="17" name="ring 4"/>
          <p:cNvSpPr/>
          <p:nvPr/>
        </p:nvSpPr>
        <p:spPr>
          <a:xfrm>
            <a:off x="5486400" y="3941064"/>
            <a:ext cx="502920" cy="502920"/>
          </a:xfrm>
          <a:prstGeom prst="ellipse">
            <a:avLst/>
          </a:prstGeom>
          <a:solidFill>
            <a:srgbClr val="1A0420"/>
          </a:solidFill>
          <a:ln w="25400">
            <a:solidFill>
              <a:schemeClr val="accent6"/>
            </a:solidFill>
            <a:prstDash val="solid"/>
          </a:ln>
        </p:spPr>
      </p:sp>
      <p:sp>
        <p:nvSpPr>
          <p:cNvPr id="18" name="Text 15"/>
          <p:cNvSpPr txBox="1"/>
          <p:nvPr/>
        </p:nvSpPr>
        <p:spPr>
          <a:xfrm>
            <a:off x="5486400" y="3941064"/>
            <a:ext cx="502920" cy="502920"/>
          </a:xfrm>
          <a:prstGeom prst="rect">
            <a:avLst/>
          </a:prstGeom>
          <a:noFill/>
          <a:ln/>
        </p:spPr>
        <p:txBody>
          <a:bodyPr wrap="square" lIns="0" tIns="0" rIns="0" bIns="0" rtlCol="0" anchor="ctr"/>
          <a:lstStyle/>
          <a:p>
            <a:pPr algn="ctr" indent="0" marL="0">
              <a:buNone/>
            </a:pPr>
            <a:r>
              <a:rPr lang="en-US" sz="1300" b="1" dirty="0">
                <a:solidFill>
                  <a:schemeClr val="accent6"/>
                </a:solidFill>
              </a:rPr>
              <a:t>4</a:t>
            </a:r>
            <a:endParaRPr lang="en-US" sz="1300" dirty="0"/>
          </a:p>
        </p:txBody>
      </p:sp>
      <p:sp>
        <p:nvSpPr>
          <p:cNvPr id="19" name="Text 16"/>
          <p:cNvSpPr txBox="1"/>
          <p:nvPr/>
        </p:nvSpPr>
        <p:spPr>
          <a:xfrm>
            <a:off x="6217920" y="3895344"/>
            <a:ext cx="5440680" cy="329184"/>
          </a:xfrm>
          <a:prstGeom prst="rect">
            <a:avLst/>
          </a:prstGeom>
          <a:noFill/>
          <a:ln/>
        </p:spPr>
        <p:txBody>
          <a:bodyPr wrap="square" lIns="0" tIns="0" rIns="0" bIns="0" rtlCol="0" anchor="t"/>
          <a:lstStyle/>
          <a:p>
            <a:pPr indent="0" marL="0">
              <a:buNone/>
            </a:pPr>
            <a:r>
              <a:rPr lang="en-US" sz="1600" b="1" dirty="0">
                <a:solidFill>
                  <a:schemeClr val="bg1"/>
                </a:solidFill>
              </a:rPr>
              <a:t>Healthcare &amp; Life Sciences</a:t>
            </a:r>
            <a:endParaRPr lang="en-US" sz="1600" dirty="0"/>
          </a:p>
        </p:txBody>
      </p:sp>
      <p:sp>
        <p:nvSpPr>
          <p:cNvPr id="20" name="Text 17"/>
          <p:cNvSpPr txBox="1"/>
          <p:nvPr/>
        </p:nvSpPr>
        <p:spPr>
          <a:xfrm>
            <a:off x="6217920" y="4224528"/>
            <a:ext cx="5440680" cy="310896"/>
          </a:xfrm>
          <a:prstGeom prst="rect">
            <a:avLst/>
          </a:prstGeom>
          <a:noFill/>
          <a:ln/>
        </p:spPr>
        <p:txBody>
          <a:bodyPr wrap="square" lIns="0" tIns="0" rIns="0" bIns="0" rtlCol="0" anchor="t"/>
          <a:lstStyle/>
          <a:p>
            <a:pPr indent="0" marL="0">
              <a:buNone/>
            </a:pPr>
            <a:r>
              <a:rPr lang="en-US" sz="1400" dirty="0">
                <a:solidFill>
                  <a:schemeClr val="bg2"/>
                </a:solidFill>
              </a:rPr>
              <a:t>Patient-specific organ twins, drug discovery, hospital flow</a:t>
            </a:r>
            <a:endParaRPr lang="en-US" sz="1400" dirty="0"/>
          </a:p>
        </p:txBody>
      </p:sp>
      <p:sp>
        <p:nvSpPr>
          <p:cNvPr id="21" name="ring 5"/>
          <p:cNvSpPr/>
          <p:nvPr/>
        </p:nvSpPr>
        <p:spPr>
          <a:xfrm>
            <a:off x="5486400" y="4690872"/>
            <a:ext cx="502920" cy="502920"/>
          </a:xfrm>
          <a:prstGeom prst="ellipse">
            <a:avLst/>
          </a:prstGeom>
          <a:solidFill>
            <a:srgbClr val="1A0420"/>
          </a:solidFill>
          <a:ln w="25400">
            <a:solidFill>
              <a:schemeClr val="accent5"/>
            </a:solidFill>
            <a:prstDash val="solid"/>
          </a:ln>
        </p:spPr>
      </p:sp>
      <p:sp>
        <p:nvSpPr>
          <p:cNvPr id="22" name="Text 19"/>
          <p:cNvSpPr txBox="1"/>
          <p:nvPr/>
        </p:nvSpPr>
        <p:spPr>
          <a:xfrm>
            <a:off x="5486400" y="4690872"/>
            <a:ext cx="502920" cy="502920"/>
          </a:xfrm>
          <a:prstGeom prst="rect">
            <a:avLst/>
          </a:prstGeom>
          <a:noFill/>
          <a:ln/>
        </p:spPr>
        <p:txBody>
          <a:bodyPr wrap="square" lIns="0" tIns="0" rIns="0" bIns="0" rtlCol="0" anchor="ctr"/>
          <a:lstStyle/>
          <a:p>
            <a:pPr algn="ctr" indent="0" marL="0">
              <a:buNone/>
            </a:pPr>
            <a:r>
              <a:rPr lang="en-US" sz="1300" b="1" dirty="0">
                <a:solidFill>
                  <a:schemeClr val="accent5"/>
                </a:solidFill>
              </a:rPr>
              <a:t>5</a:t>
            </a:r>
            <a:endParaRPr lang="en-US" sz="1300" dirty="0"/>
          </a:p>
        </p:txBody>
      </p:sp>
      <p:sp>
        <p:nvSpPr>
          <p:cNvPr id="23" name="Text 20"/>
          <p:cNvSpPr txBox="1"/>
          <p:nvPr/>
        </p:nvSpPr>
        <p:spPr>
          <a:xfrm>
            <a:off x="6217920" y="4645152"/>
            <a:ext cx="5440680" cy="329184"/>
          </a:xfrm>
          <a:prstGeom prst="rect">
            <a:avLst/>
          </a:prstGeom>
          <a:noFill/>
          <a:ln/>
        </p:spPr>
        <p:txBody>
          <a:bodyPr wrap="square" lIns="0" tIns="0" rIns="0" bIns="0" rtlCol="0" anchor="t"/>
          <a:lstStyle/>
          <a:p>
            <a:pPr indent="0" marL="0">
              <a:buNone/>
            </a:pPr>
            <a:r>
              <a:rPr lang="en-US" sz="1600" b="1" dirty="0">
                <a:solidFill>
                  <a:schemeClr val="bg1"/>
                </a:solidFill>
              </a:rPr>
              <a:t>Smart Cities &amp; Infrastructure</a:t>
            </a:r>
            <a:endParaRPr lang="en-US" sz="1600" dirty="0"/>
          </a:p>
        </p:txBody>
      </p:sp>
      <p:sp>
        <p:nvSpPr>
          <p:cNvPr id="24" name="Text 21"/>
          <p:cNvSpPr txBox="1"/>
          <p:nvPr/>
        </p:nvSpPr>
        <p:spPr>
          <a:xfrm>
            <a:off x="6217920" y="4974336"/>
            <a:ext cx="5440680" cy="310896"/>
          </a:xfrm>
          <a:prstGeom prst="rect">
            <a:avLst/>
          </a:prstGeom>
          <a:noFill/>
          <a:ln/>
        </p:spPr>
        <p:txBody>
          <a:bodyPr wrap="square" lIns="0" tIns="0" rIns="0" bIns="0" rtlCol="0" anchor="t"/>
          <a:lstStyle/>
          <a:p>
            <a:pPr indent="0" marL="0">
              <a:buNone/>
            </a:pPr>
            <a:r>
              <a:rPr lang="en-US" sz="1400" dirty="0">
                <a:solidFill>
                  <a:schemeClr val="bg2"/>
                </a:solidFill>
              </a:rPr>
              <a:t>Traffic and mobility, building energy, disaster simulation</a:t>
            </a:r>
            <a:endParaRPr lang="en-US" sz="1400" dirty="0"/>
          </a:p>
        </p:txBody>
      </p:sp>
      <p:sp>
        <p:nvSpPr>
          <p:cNvPr id="25" name="ring 6"/>
          <p:cNvSpPr/>
          <p:nvPr/>
        </p:nvSpPr>
        <p:spPr>
          <a:xfrm>
            <a:off x="5486400" y="5440680"/>
            <a:ext cx="502920" cy="502920"/>
          </a:xfrm>
          <a:prstGeom prst="ellipse">
            <a:avLst/>
          </a:prstGeom>
          <a:solidFill>
            <a:srgbClr val="1A0420"/>
          </a:solidFill>
          <a:ln w="25400">
            <a:solidFill>
              <a:schemeClr val="accent2"/>
            </a:solidFill>
            <a:prstDash val="solid"/>
          </a:ln>
        </p:spPr>
      </p:sp>
      <p:sp>
        <p:nvSpPr>
          <p:cNvPr id="26" name="Text 23"/>
          <p:cNvSpPr txBox="1"/>
          <p:nvPr/>
        </p:nvSpPr>
        <p:spPr>
          <a:xfrm>
            <a:off x="5486400" y="5440680"/>
            <a:ext cx="502920" cy="502920"/>
          </a:xfrm>
          <a:prstGeom prst="rect">
            <a:avLst/>
          </a:prstGeom>
          <a:noFill/>
          <a:ln/>
        </p:spPr>
        <p:txBody>
          <a:bodyPr wrap="square" lIns="0" tIns="0" rIns="0" bIns="0" rtlCol="0" anchor="ctr"/>
          <a:lstStyle/>
          <a:p>
            <a:pPr algn="ctr" indent="0" marL="0">
              <a:buNone/>
            </a:pPr>
            <a:r>
              <a:rPr lang="en-US" sz="1300" b="1" dirty="0">
                <a:solidFill>
                  <a:schemeClr val="accent2"/>
                </a:solidFill>
              </a:rPr>
              <a:t>6</a:t>
            </a:r>
            <a:endParaRPr lang="en-US" sz="1300" dirty="0"/>
          </a:p>
        </p:txBody>
      </p:sp>
      <p:sp>
        <p:nvSpPr>
          <p:cNvPr id="27" name="Text 24"/>
          <p:cNvSpPr txBox="1"/>
          <p:nvPr/>
        </p:nvSpPr>
        <p:spPr>
          <a:xfrm>
            <a:off x="6217920" y="5394960"/>
            <a:ext cx="5440680" cy="329184"/>
          </a:xfrm>
          <a:prstGeom prst="rect">
            <a:avLst/>
          </a:prstGeom>
          <a:noFill/>
          <a:ln/>
        </p:spPr>
        <p:txBody>
          <a:bodyPr wrap="square" lIns="0" tIns="0" rIns="0" bIns="0" rtlCol="0" anchor="t"/>
          <a:lstStyle/>
          <a:p>
            <a:pPr indent="0" marL="0">
              <a:buNone/>
            </a:pPr>
            <a:r>
              <a:rPr lang="en-US" sz="1600" b="1" dirty="0">
                <a:solidFill>
                  <a:schemeClr val="bg1"/>
                </a:solidFill>
              </a:rPr>
              <a:t>Aerospace &amp; Automotive</a:t>
            </a:r>
            <a:endParaRPr lang="en-US" sz="1600" dirty="0"/>
          </a:p>
        </p:txBody>
      </p:sp>
      <p:sp>
        <p:nvSpPr>
          <p:cNvPr id="28" name="Text 25"/>
          <p:cNvSpPr txBox="1"/>
          <p:nvPr/>
        </p:nvSpPr>
        <p:spPr>
          <a:xfrm>
            <a:off x="6217920" y="5724144"/>
            <a:ext cx="5440680" cy="310896"/>
          </a:xfrm>
          <a:prstGeom prst="rect">
            <a:avLst/>
          </a:prstGeom>
          <a:noFill/>
          <a:ln/>
        </p:spPr>
        <p:txBody>
          <a:bodyPr wrap="square" lIns="0" tIns="0" rIns="0" bIns="0" rtlCol="0" anchor="t"/>
          <a:lstStyle/>
          <a:p>
            <a:pPr indent="0" marL="0">
              <a:buNone/>
            </a:pPr>
            <a:r>
              <a:rPr lang="en-US" sz="1400" dirty="0">
                <a:solidFill>
                  <a:schemeClr val="bg2"/>
                </a:solidFill>
              </a:rPr>
              <a:t>Engine remaining-life prediction, simulated driving miles</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02 · HIGH-IMPACT OVERVIEW</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Each domain ties AI to a measurable outcome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377440"/>
                <a:gridCol w="4206240"/>
                <a:gridCol w="4480560"/>
              </a:tblGrid>
              <a:tr h="603504">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Primary AI technique</a:t>
                      </a:r>
                      <a:endParaRPr lang="en-US" sz="13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Key metric / business outcome</a:t>
                      </a:r>
                      <a:endParaRPr lang="en-US" sz="13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r>
              <a:tr h="603504">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Manufacturing</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Anomaly detection, reinforcement learning</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Unplanned downtime reduction (typically 20–50%)</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603504">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Energy &amp; Utilities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Time-series forecasting, physics-informed neural nets (PINNs)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Up to 10–20% boost in efficiency / lower emissions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603504">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Supply Chain</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Graph neural networks, Monte Carlo simulations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Reduced buffer inventory, faster lead times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603504">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Healthcare</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Biomechanical modeling, generative diffusion</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Lower surgical complication risk, optimized clinical flow</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603504">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Smart Cities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Computer vision, multi-agent spatial simulation</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Reduced transit congestion, 15–30% HVAC energy savings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bl>
          </a:graphicData>
        </a:graphic>
      </p:graphicFrame>
      <p:sp>
        <p:nvSpPr>
          <p:cNvPr id="5" name="Text 2"/>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500" i="1" dirty="0">
                <a:solidFill>
                  <a:schemeClr val="accent4"/>
                </a:solidFill>
              </a:rPr>
              <a:t>The pattern turns a technology into an investment case: a clear technique, tied to an outcome you can measure.</a:t>
            </a:r>
            <a:endParaRPr lang="en-US" sz="15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03 · SMART CITIES</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Urban twins let cities sense and respond in minutes</a:t>
            </a:r>
            <a:endParaRPr lang="en-US" sz="2800" dirty="0"/>
          </a:p>
        </p:txBody>
      </p:sp>
      <p:pic>
        <p:nvPicPr>
          <p:cNvPr id="4" name="Digital twins: the decarbonization engine infographic" descr="Digital twins: the decarbonization engine infographic">    </p:cNvPr>
          <p:cNvPicPr>
            <a:picLocks noChangeAspect="1"/>
          </p:cNvPicPr>
          <p:nvPr/>
        </p:nvPicPr>
        <p:blipFill>
          <a:blip r:embed="rId1"/>
          <a:stretch>
            <a:fillRect/>
          </a:stretch>
        </p:blipFill>
        <p:spPr>
          <a:xfrm>
            <a:off x="548640" y="1737360"/>
            <a:ext cx="6675120" cy="3721608"/>
          </a:xfrm>
          <a:prstGeom prst="rect">
            <a:avLst/>
          </a:prstGeom>
        </p:spPr>
      </p:pic>
      <p:sp>
        <p:nvSpPr>
          <p:cNvPr id="5" name="Text 2"/>
          <p:cNvSpPr txBox="1"/>
          <p:nvPr/>
        </p:nvSpPr>
        <p:spPr>
          <a:xfrm>
            <a:off x="548640" y="5577840"/>
            <a:ext cx="6675120" cy="548640"/>
          </a:xfrm>
          <a:prstGeom prst="rect">
            <a:avLst/>
          </a:prstGeom>
          <a:noFill/>
          <a:ln/>
        </p:spPr>
        <p:txBody>
          <a:bodyPr wrap="square" lIns="0" tIns="0" rIns="0" bIns="0" rtlCol="0" anchor="t"/>
          <a:lstStyle/>
          <a:p>
            <a:pPr indent="0" marL="0">
              <a:buNone/>
            </a:pPr>
            <a:r>
              <a:rPr lang="en-US" sz="1400" dirty="0">
                <a:solidFill>
                  <a:schemeClr val="bg2"/>
                </a:solidFill>
              </a:rPr>
              <a:t>An Urban Digital Twin fuses GIS terrain, 3D BIM, municipal IoT sensors and public-service data into one living model.</a:t>
            </a:r>
            <a:endParaRPr lang="en-US" sz="1400" dirty="0"/>
          </a:p>
        </p:txBody>
      </p:sp>
      <p:sp>
        <p:nvSpPr>
          <p:cNvPr id="6" name="city Chattanooga, Tennessee"/>
          <p:cNvSpPr/>
          <p:nvPr/>
        </p:nvSpPr>
        <p:spPr>
          <a:xfrm>
            <a:off x="7589520" y="1737360"/>
            <a:ext cx="4069080" cy="1325880"/>
          </a:xfrm>
          <a:prstGeom prst="roundRect">
            <a:avLst>
              <a:gd name="adj" fmla="val 8276"/>
            </a:avLst>
          </a:prstGeom>
          <a:solidFill>
            <a:schemeClr val="tx2"/>
          </a:solidFill>
          <a:ln w="9525">
            <a:solidFill>
              <a:srgbClr val="5A2A6E"/>
            </a:solidFill>
            <a:prstDash val="solid"/>
          </a:ln>
        </p:spPr>
      </p:sp>
      <p:sp>
        <p:nvSpPr>
          <p:cNvPr id="7" name="Text 4"/>
          <p:cNvSpPr txBox="1"/>
          <p:nvPr/>
        </p:nvSpPr>
        <p:spPr>
          <a:xfrm>
            <a:off x="7772400" y="1920240"/>
            <a:ext cx="1051560" cy="54864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~30%</a:t>
            </a:r>
            <a:endParaRPr lang="en-US" sz="2400" dirty="0"/>
          </a:p>
        </p:txBody>
      </p:sp>
      <p:sp>
        <p:nvSpPr>
          <p:cNvPr id="8" name="Text 5"/>
          <p:cNvSpPr txBox="1"/>
          <p:nvPr/>
        </p:nvSpPr>
        <p:spPr>
          <a:xfrm>
            <a:off x="8869680" y="1892808"/>
            <a:ext cx="2651760" cy="347472"/>
          </a:xfrm>
          <a:prstGeom prst="rect">
            <a:avLst/>
          </a:prstGeom>
          <a:noFill/>
          <a:ln/>
        </p:spPr>
        <p:txBody>
          <a:bodyPr wrap="square" lIns="0" tIns="0" rIns="0" bIns="0" rtlCol="0" anchor="t"/>
          <a:lstStyle/>
          <a:p>
            <a:pPr indent="0" marL="0">
              <a:buNone/>
            </a:pPr>
            <a:r>
              <a:rPr lang="en-US" sz="1600" b="1" dirty="0">
                <a:solidFill>
                  <a:schemeClr val="bg1"/>
                </a:solidFill>
              </a:rPr>
              <a:t>Chattanooga, Tennessee</a:t>
            </a:r>
            <a:endParaRPr lang="en-US" sz="1600" dirty="0"/>
          </a:p>
        </p:txBody>
      </p:sp>
      <p:sp>
        <p:nvSpPr>
          <p:cNvPr id="9" name="Text 6"/>
          <p:cNvSpPr txBox="1"/>
          <p:nvPr/>
        </p:nvSpPr>
        <p:spPr>
          <a:xfrm>
            <a:off x="8869680" y="2240280"/>
            <a:ext cx="2651760" cy="777240"/>
          </a:xfrm>
          <a:prstGeom prst="rect">
            <a:avLst/>
          </a:prstGeom>
          <a:noFill/>
          <a:ln/>
        </p:spPr>
        <p:txBody>
          <a:bodyPr wrap="square" lIns="0" tIns="0" rIns="0" bIns="0" rtlCol="0" anchor="t"/>
          <a:lstStyle/>
          <a:p>
            <a:pPr indent="0" marL="0">
              <a:buNone/>
            </a:pPr>
            <a:r>
              <a:rPr lang="en-US" sz="1200" dirty="0">
                <a:solidFill>
                  <a:schemeClr val="bg2"/>
                </a:solidFill>
              </a:rPr>
              <a:t>500+ data sources with Oak Ridge National Laboratory; signals re-optimized every 4 minutes.</a:t>
            </a:r>
            <a:endParaRPr lang="en-US" sz="1200" dirty="0"/>
          </a:p>
        </p:txBody>
      </p:sp>
      <p:sp>
        <p:nvSpPr>
          <p:cNvPr id="10" name="city Virtual Singapore"/>
          <p:cNvSpPr/>
          <p:nvPr/>
        </p:nvSpPr>
        <p:spPr>
          <a:xfrm>
            <a:off x="7589520" y="3218688"/>
            <a:ext cx="4069080" cy="1325880"/>
          </a:xfrm>
          <a:prstGeom prst="roundRect">
            <a:avLst>
              <a:gd name="adj" fmla="val 8276"/>
            </a:avLst>
          </a:prstGeom>
          <a:solidFill>
            <a:schemeClr val="tx2"/>
          </a:solidFill>
          <a:ln w="9525">
            <a:solidFill>
              <a:srgbClr val="5A2A6E"/>
            </a:solidFill>
            <a:prstDash val="solid"/>
          </a:ln>
        </p:spPr>
      </p:sp>
      <p:sp>
        <p:nvSpPr>
          <p:cNvPr id="11" name="Text 8"/>
          <p:cNvSpPr txBox="1"/>
          <p:nvPr/>
        </p:nvSpPr>
        <p:spPr>
          <a:xfrm>
            <a:off x="7772400" y="3401568"/>
            <a:ext cx="1051560" cy="54864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3D</a:t>
            </a:r>
            <a:endParaRPr lang="en-US" sz="2400" dirty="0"/>
          </a:p>
        </p:txBody>
      </p:sp>
      <p:sp>
        <p:nvSpPr>
          <p:cNvPr id="12" name="Text 9"/>
          <p:cNvSpPr txBox="1"/>
          <p:nvPr/>
        </p:nvSpPr>
        <p:spPr>
          <a:xfrm>
            <a:off x="8869680" y="3374136"/>
            <a:ext cx="2651760" cy="347472"/>
          </a:xfrm>
          <a:prstGeom prst="rect">
            <a:avLst/>
          </a:prstGeom>
          <a:noFill/>
          <a:ln/>
        </p:spPr>
        <p:txBody>
          <a:bodyPr wrap="square" lIns="0" tIns="0" rIns="0" bIns="0" rtlCol="0" anchor="t"/>
          <a:lstStyle/>
          <a:p>
            <a:pPr indent="0" marL="0">
              <a:buNone/>
            </a:pPr>
            <a:r>
              <a:rPr lang="en-US" sz="1600" b="1" dirty="0">
                <a:solidFill>
                  <a:schemeClr val="bg1"/>
                </a:solidFill>
              </a:rPr>
              <a:t>Virtual Singapore</a:t>
            </a:r>
            <a:endParaRPr lang="en-US" sz="1600" dirty="0"/>
          </a:p>
        </p:txBody>
      </p:sp>
      <p:sp>
        <p:nvSpPr>
          <p:cNvPr id="13" name="Text 10"/>
          <p:cNvSpPr txBox="1"/>
          <p:nvPr/>
        </p:nvSpPr>
        <p:spPr>
          <a:xfrm>
            <a:off x="8869680" y="3721608"/>
            <a:ext cx="2651760" cy="777240"/>
          </a:xfrm>
          <a:prstGeom prst="rect">
            <a:avLst/>
          </a:prstGeom>
          <a:noFill/>
          <a:ln/>
        </p:spPr>
        <p:txBody>
          <a:bodyPr wrap="square" lIns="0" tIns="0" rIns="0" bIns="0" rtlCol="0" anchor="t"/>
          <a:lstStyle/>
          <a:p>
            <a:pPr indent="0" marL="0">
              <a:buNone/>
            </a:pPr>
            <a:r>
              <a:rPr lang="en-US" sz="1200" dirty="0">
                <a:solidFill>
                  <a:schemeClr val="bg2"/>
                </a:solidFill>
              </a:rPr>
              <a:t>Wind-flow ventilation, telecom coverage impact and crowd-evacuation simulation.</a:t>
            </a:r>
            <a:endParaRPr lang="en-US" sz="1200" dirty="0"/>
          </a:p>
        </p:txBody>
      </p:sp>
      <p:sp>
        <p:nvSpPr>
          <p:cNvPr id="14" name="city Helsinki 3D+"/>
          <p:cNvSpPr/>
          <p:nvPr/>
        </p:nvSpPr>
        <p:spPr>
          <a:xfrm>
            <a:off x="7589520" y="4700016"/>
            <a:ext cx="4069080" cy="1325880"/>
          </a:xfrm>
          <a:prstGeom prst="roundRect">
            <a:avLst>
              <a:gd name="adj" fmla="val 8276"/>
            </a:avLst>
          </a:prstGeom>
          <a:solidFill>
            <a:schemeClr val="tx2"/>
          </a:solidFill>
          <a:ln w="9525">
            <a:solidFill>
              <a:srgbClr val="5A2A6E"/>
            </a:solidFill>
            <a:prstDash val="solid"/>
          </a:ln>
        </p:spPr>
      </p:sp>
      <p:sp>
        <p:nvSpPr>
          <p:cNvPr id="15" name="Text 12"/>
          <p:cNvSpPr txBox="1"/>
          <p:nvPr/>
        </p:nvSpPr>
        <p:spPr>
          <a:xfrm>
            <a:off x="7772400" y="4882896"/>
            <a:ext cx="1051560" cy="54864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CO₂</a:t>
            </a:r>
            <a:endParaRPr lang="en-US" sz="2400" dirty="0"/>
          </a:p>
        </p:txBody>
      </p:sp>
      <p:sp>
        <p:nvSpPr>
          <p:cNvPr id="16" name="Text 13"/>
          <p:cNvSpPr txBox="1"/>
          <p:nvPr/>
        </p:nvSpPr>
        <p:spPr>
          <a:xfrm>
            <a:off x="8869680" y="4855464"/>
            <a:ext cx="2651760" cy="347472"/>
          </a:xfrm>
          <a:prstGeom prst="rect">
            <a:avLst/>
          </a:prstGeom>
          <a:noFill/>
          <a:ln/>
        </p:spPr>
        <p:txBody>
          <a:bodyPr wrap="square" lIns="0" tIns="0" rIns="0" bIns="0" rtlCol="0" anchor="t"/>
          <a:lstStyle/>
          <a:p>
            <a:pPr indent="0" marL="0">
              <a:buNone/>
            </a:pPr>
            <a:r>
              <a:rPr lang="en-US" sz="1600" b="1" dirty="0">
                <a:solidFill>
                  <a:schemeClr val="bg1"/>
                </a:solidFill>
              </a:rPr>
              <a:t>Helsinki 3D+</a:t>
            </a:r>
            <a:endParaRPr lang="en-US" sz="1600" dirty="0"/>
          </a:p>
        </p:txBody>
      </p:sp>
      <p:sp>
        <p:nvSpPr>
          <p:cNvPr id="17" name="Text 14"/>
          <p:cNvSpPr txBox="1"/>
          <p:nvPr/>
        </p:nvSpPr>
        <p:spPr>
          <a:xfrm>
            <a:off x="8869680" y="5202936"/>
            <a:ext cx="2651760" cy="777240"/>
          </a:xfrm>
          <a:prstGeom prst="rect">
            <a:avLst/>
          </a:prstGeom>
          <a:noFill/>
          <a:ln/>
        </p:spPr>
        <p:txBody>
          <a:bodyPr wrap="square" lIns="0" tIns="0" rIns="0" bIns="0" rtlCol="0" anchor="t"/>
          <a:lstStyle/>
          <a:p>
            <a:pPr indent="0" marL="0">
              <a:buNone/>
            </a:pPr>
            <a:r>
              <a:rPr lang="en-US" sz="1200" dirty="0">
                <a:solidFill>
                  <a:schemeClr val="bg2"/>
                </a:solidFill>
              </a:rPr>
              <a:t>Building energy history plus solar models to prioritize retrofits block by block.</a:t>
            </a:r>
            <a:endParaRPr lang="en-US" sz="12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03 · ARCHITECTURE AND RISKS</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Four layers power a city twin, three risks hold it back</a:t>
            </a:r>
            <a:endParaRPr lang="en-US" sz="2800" dirty="0"/>
          </a:p>
        </p:txBody>
      </p:sp>
      <p:sp>
        <p:nvSpPr>
          <p:cNvPr id="4" name="layer 4"/>
          <p:cNvSpPr/>
          <p:nvPr/>
        </p:nvSpPr>
        <p:spPr>
          <a:xfrm>
            <a:off x="548640" y="1737360"/>
            <a:ext cx="6035040" cy="914400"/>
          </a:xfrm>
          <a:prstGeom prst="roundRect">
            <a:avLst>
              <a:gd name="adj" fmla="val 12000"/>
            </a:avLst>
          </a:prstGeom>
          <a:solidFill>
            <a:schemeClr val="tx2"/>
          </a:solidFill>
          <a:ln w="9525">
            <a:solidFill>
              <a:srgbClr val="5A2A6E"/>
            </a:solidFill>
            <a:prstDash val="solid"/>
          </a:ln>
        </p:spPr>
      </p:sp>
      <p:sp>
        <p:nvSpPr>
          <p:cNvPr id="5" name="ring 4"/>
          <p:cNvSpPr/>
          <p:nvPr/>
        </p:nvSpPr>
        <p:spPr>
          <a:xfrm>
            <a:off x="749808" y="1920240"/>
            <a:ext cx="548640" cy="548640"/>
          </a:xfrm>
          <a:prstGeom prst="ellipse">
            <a:avLst/>
          </a:prstGeom>
          <a:solidFill>
            <a:srgbClr val="1A0420"/>
          </a:solidFill>
          <a:ln w="25400">
            <a:solidFill>
              <a:schemeClr val="accent6"/>
            </a:solidFill>
            <a:prstDash val="solid"/>
          </a:ln>
        </p:spPr>
      </p:sp>
      <p:sp>
        <p:nvSpPr>
          <p:cNvPr id="6" name="Text 4"/>
          <p:cNvSpPr txBox="1"/>
          <p:nvPr/>
        </p:nvSpPr>
        <p:spPr>
          <a:xfrm>
            <a:off x="749808" y="1920240"/>
            <a:ext cx="548640" cy="548640"/>
          </a:xfrm>
          <a:prstGeom prst="rect">
            <a:avLst/>
          </a:prstGeom>
          <a:noFill/>
          <a:ln/>
        </p:spPr>
        <p:txBody>
          <a:bodyPr wrap="square" lIns="0" tIns="0" rIns="0" bIns="0" rtlCol="0" anchor="ctr"/>
          <a:lstStyle/>
          <a:p>
            <a:pPr algn="ctr" indent="0" marL="0">
              <a:buNone/>
            </a:pPr>
            <a:r>
              <a:rPr lang="en-US" sz="1400" b="1" dirty="0">
                <a:solidFill>
                  <a:schemeClr val="accent6"/>
                </a:solidFill>
              </a:rPr>
              <a:t>4</a:t>
            </a:r>
            <a:endParaRPr lang="en-US" sz="1400" dirty="0"/>
          </a:p>
        </p:txBody>
      </p:sp>
      <p:sp>
        <p:nvSpPr>
          <p:cNvPr id="7" name="Text 5"/>
          <p:cNvSpPr txBox="1"/>
          <p:nvPr/>
        </p:nvSpPr>
        <p:spPr>
          <a:xfrm>
            <a:off x="1508760" y="1865376"/>
            <a:ext cx="4937760" cy="347472"/>
          </a:xfrm>
          <a:prstGeom prst="rect">
            <a:avLst/>
          </a:prstGeom>
          <a:noFill/>
          <a:ln/>
        </p:spPr>
        <p:txBody>
          <a:bodyPr wrap="square" lIns="0" tIns="0" rIns="0" bIns="0" rtlCol="0" anchor="t"/>
          <a:lstStyle/>
          <a:p>
            <a:pPr indent="0" marL="0">
              <a:buNone/>
            </a:pPr>
            <a:r>
              <a:rPr lang="en-US" sz="1600" b="1" dirty="0">
                <a:solidFill>
                  <a:schemeClr val="bg1"/>
                </a:solidFill>
              </a:rPr>
              <a:t>Application &amp; Simulation</a:t>
            </a:r>
            <a:endParaRPr lang="en-US" sz="1600" dirty="0"/>
          </a:p>
        </p:txBody>
      </p:sp>
      <p:sp>
        <p:nvSpPr>
          <p:cNvPr id="8" name="Text 6"/>
          <p:cNvSpPr txBox="1"/>
          <p:nvPr/>
        </p:nvSpPr>
        <p:spPr>
          <a:xfrm>
            <a:off x="1508760" y="2212848"/>
            <a:ext cx="4937760" cy="347472"/>
          </a:xfrm>
          <a:prstGeom prst="rect">
            <a:avLst/>
          </a:prstGeom>
          <a:noFill/>
          <a:ln/>
        </p:spPr>
        <p:txBody>
          <a:bodyPr wrap="square" lIns="0" tIns="0" rIns="0" bIns="0" rtlCol="0" anchor="t"/>
          <a:lstStyle/>
          <a:p>
            <a:pPr indent="0" marL="0">
              <a:buNone/>
            </a:pPr>
            <a:r>
              <a:rPr lang="en-US" sz="1300" dirty="0">
                <a:solidFill>
                  <a:schemeClr val="bg2"/>
                </a:solidFill>
              </a:rPr>
              <a:t>Unreal Engine · Cesium · Omniverse · planning sandboxes</a:t>
            </a:r>
            <a:endParaRPr lang="en-US" sz="1300" dirty="0"/>
          </a:p>
        </p:txBody>
      </p:sp>
      <p:sp>
        <p:nvSpPr>
          <p:cNvPr id="9" name="layer 3"/>
          <p:cNvSpPr/>
          <p:nvPr/>
        </p:nvSpPr>
        <p:spPr>
          <a:xfrm>
            <a:off x="548640" y="2816352"/>
            <a:ext cx="6035040" cy="914400"/>
          </a:xfrm>
          <a:prstGeom prst="roundRect">
            <a:avLst>
              <a:gd name="adj" fmla="val 12000"/>
            </a:avLst>
          </a:prstGeom>
          <a:solidFill>
            <a:schemeClr val="tx2"/>
          </a:solidFill>
          <a:ln w="9525">
            <a:solidFill>
              <a:srgbClr val="5A2A6E"/>
            </a:solidFill>
            <a:prstDash val="solid"/>
          </a:ln>
        </p:spPr>
      </p:sp>
      <p:sp>
        <p:nvSpPr>
          <p:cNvPr id="10" name="ring 3"/>
          <p:cNvSpPr/>
          <p:nvPr/>
        </p:nvSpPr>
        <p:spPr>
          <a:xfrm>
            <a:off x="749808" y="2999232"/>
            <a:ext cx="548640" cy="548640"/>
          </a:xfrm>
          <a:prstGeom prst="ellipse">
            <a:avLst/>
          </a:prstGeom>
          <a:solidFill>
            <a:srgbClr val="1A0420"/>
          </a:solidFill>
          <a:ln w="25400">
            <a:solidFill>
              <a:schemeClr val="accent5"/>
            </a:solidFill>
            <a:prstDash val="solid"/>
          </a:ln>
        </p:spPr>
      </p:sp>
      <p:sp>
        <p:nvSpPr>
          <p:cNvPr id="11" name="Text 9"/>
          <p:cNvSpPr txBox="1"/>
          <p:nvPr/>
        </p:nvSpPr>
        <p:spPr>
          <a:xfrm>
            <a:off x="749808" y="2999232"/>
            <a:ext cx="548640" cy="548640"/>
          </a:xfrm>
          <a:prstGeom prst="rect">
            <a:avLst/>
          </a:prstGeom>
          <a:noFill/>
          <a:ln/>
        </p:spPr>
        <p:txBody>
          <a:bodyPr wrap="square" lIns="0" tIns="0" rIns="0" bIns="0" rtlCol="0" anchor="ctr"/>
          <a:lstStyle/>
          <a:p>
            <a:pPr algn="ctr" indent="0" marL="0">
              <a:buNone/>
            </a:pPr>
            <a:r>
              <a:rPr lang="en-US" sz="1400" b="1" dirty="0">
                <a:solidFill>
                  <a:schemeClr val="accent5"/>
                </a:solidFill>
              </a:rPr>
              <a:t>3</a:t>
            </a:r>
            <a:endParaRPr lang="en-US" sz="1400" dirty="0"/>
          </a:p>
        </p:txBody>
      </p:sp>
      <p:sp>
        <p:nvSpPr>
          <p:cNvPr id="12" name="Text 10"/>
          <p:cNvSpPr txBox="1"/>
          <p:nvPr/>
        </p:nvSpPr>
        <p:spPr>
          <a:xfrm>
            <a:off x="1508760" y="2944368"/>
            <a:ext cx="4937760" cy="347472"/>
          </a:xfrm>
          <a:prstGeom prst="rect">
            <a:avLst/>
          </a:prstGeom>
          <a:noFill/>
          <a:ln/>
        </p:spPr>
        <p:txBody>
          <a:bodyPr wrap="square" lIns="0" tIns="0" rIns="0" bIns="0" rtlCol="0" anchor="t"/>
          <a:lstStyle/>
          <a:p>
            <a:pPr indent="0" marL="0">
              <a:buNone/>
            </a:pPr>
            <a:r>
              <a:rPr lang="en-US" sz="1600" b="1" dirty="0">
                <a:solidFill>
                  <a:schemeClr val="bg1"/>
                </a:solidFill>
              </a:rPr>
              <a:t>AI Reasoning &amp; Analytics</a:t>
            </a:r>
            <a:endParaRPr lang="en-US" sz="1600" dirty="0"/>
          </a:p>
        </p:txBody>
      </p:sp>
      <p:sp>
        <p:nvSpPr>
          <p:cNvPr id="13" name="Text 11"/>
          <p:cNvSpPr txBox="1"/>
          <p:nvPr/>
        </p:nvSpPr>
        <p:spPr>
          <a:xfrm>
            <a:off x="1508760" y="3291840"/>
            <a:ext cx="4937760" cy="347472"/>
          </a:xfrm>
          <a:prstGeom prst="rect">
            <a:avLst/>
          </a:prstGeom>
          <a:noFill/>
          <a:ln/>
        </p:spPr>
        <p:txBody>
          <a:bodyPr wrap="square" lIns="0" tIns="0" rIns="0" bIns="0" rtlCol="0" anchor="t"/>
          <a:lstStyle/>
          <a:p>
            <a:pPr indent="0" marL="0">
              <a:buNone/>
            </a:pPr>
            <a:r>
              <a:rPr lang="en-US" sz="1300" dirty="0">
                <a:solidFill>
                  <a:schemeClr val="bg2"/>
                </a:solidFill>
              </a:rPr>
              <a:t>Hydrodynamic and microclimate solvers · forecasting · multi-agent RL</a:t>
            </a:r>
            <a:endParaRPr lang="en-US" sz="1300" dirty="0"/>
          </a:p>
        </p:txBody>
      </p:sp>
      <p:sp>
        <p:nvSpPr>
          <p:cNvPr id="14" name="layer 2"/>
          <p:cNvSpPr/>
          <p:nvPr/>
        </p:nvSpPr>
        <p:spPr>
          <a:xfrm>
            <a:off x="548640" y="3895344"/>
            <a:ext cx="6035040" cy="914400"/>
          </a:xfrm>
          <a:prstGeom prst="roundRect">
            <a:avLst>
              <a:gd name="adj" fmla="val 12000"/>
            </a:avLst>
          </a:prstGeom>
          <a:solidFill>
            <a:schemeClr val="tx2"/>
          </a:solidFill>
          <a:ln w="9525">
            <a:solidFill>
              <a:srgbClr val="5A2A6E"/>
            </a:solidFill>
            <a:prstDash val="solid"/>
          </a:ln>
        </p:spPr>
      </p:sp>
      <p:sp>
        <p:nvSpPr>
          <p:cNvPr id="15" name="ring 2"/>
          <p:cNvSpPr/>
          <p:nvPr/>
        </p:nvSpPr>
        <p:spPr>
          <a:xfrm>
            <a:off x="749808" y="4078224"/>
            <a:ext cx="548640" cy="548640"/>
          </a:xfrm>
          <a:prstGeom prst="ellipse">
            <a:avLst/>
          </a:prstGeom>
          <a:solidFill>
            <a:srgbClr val="1A0420"/>
          </a:solidFill>
          <a:ln w="25400">
            <a:solidFill>
              <a:schemeClr val="accent3"/>
            </a:solidFill>
            <a:prstDash val="solid"/>
          </a:ln>
        </p:spPr>
      </p:sp>
      <p:sp>
        <p:nvSpPr>
          <p:cNvPr id="16" name="Text 14"/>
          <p:cNvSpPr txBox="1"/>
          <p:nvPr/>
        </p:nvSpPr>
        <p:spPr>
          <a:xfrm>
            <a:off x="749808" y="4078224"/>
            <a:ext cx="548640" cy="548640"/>
          </a:xfrm>
          <a:prstGeom prst="rect">
            <a:avLst/>
          </a:prstGeom>
          <a:noFill/>
          <a:ln/>
        </p:spPr>
        <p:txBody>
          <a:bodyPr wrap="square" lIns="0" tIns="0" rIns="0" bIns="0" rtlCol="0" anchor="ctr"/>
          <a:lstStyle/>
          <a:p>
            <a:pPr algn="ctr" indent="0" marL="0">
              <a:buNone/>
            </a:pPr>
            <a:r>
              <a:rPr lang="en-US" sz="1400" b="1" dirty="0">
                <a:solidFill>
                  <a:schemeClr val="accent3"/>
                </a:solidFill>
              </a:rPr>
              <a:t>2</a:t>
            </a:r>
            <a:endParaRPr lang="en-US" sz="1400" dirty="0"/>
          </a:p>
        </p:txBody>
      </p:sp>
      <p:sp>
        <p:nvSpPr>
          <p:cNvPr id="17" name="Text 15"/>
          <p:cNvSpPr txBox="1"/>
          <p:nvPr/>
        </p:nvSpPr>
        <p:spPr>
          <a:xfrm>
            <a:off x="1508760" y="4023360"/>
            <a:ext cx="4937760" cy="347472"/>
          </a:xfrm>
          <a:prstGeom prst="rect">
            <a:avLst/>
          </a:prstGeom>
          <a:noFill/>
          <a:ln/>
        </p:spPr>
        <p:txBody>
          <a:bodyPr wrap="square" lIns="0" tIns="0" rIns="0" bIns="0" rtlCol="0" anchor="t"/>
          <a:lstStyle/>
          <a:p>
            <a:pPr indent="0" marL="0">
              <a:buNone/>
            </a:pPr>
            <a:r>
              <a:rPr lang="en-US" sz="1600" b="1" dirty="0">
                <a:solidFill>
                  <a:schemeClr val="bg1"/>
                </a:solidFill>
              </a:rPr>
              <a:t>Data Fusion &amp; Geospatial Storage</a:t>
            </a:r>
            <a:endParaRPr lang="en-US" sz="1600" dirty="0"/>
          </a:p>
        </p:txBody>
      </p:sp>
      <p:sp>
        <p:nvSpPr>
          <p:cNvPr id="18" name="Text 16"/>
          <p:cNvSpPr txBox="1"/>
          <p:nvPr/>
        </p:nvSpPr>
        <p:spPr>
          <a:xfrm>
            <a:off x="1508760" y="4370832"/>
            <a:ext cx="4937760" cy="347472"/>
          </a:xfrm>
          <a:prstGeom prst="rect">
            <a:avLst/>
          </a:prstGeom>
          <a:noFill/>
          <a:ln/>
        </p:spPr>
        <p:txBody>
          <a:bodyPr wrap="square" lIns="0" tIns="0" rIns="0" bIns="0" rtlCol="0" anchor="t"/>
          <a:lstStyle/>
          <a:p>
            <a:pPr indent="0" marL="0">
              <a:buNone/>
            </a:pPr>
            <a:r>
              <a:rPr lang="en-US" sz="1300" dirty="0">
                <a:solidFill>
                  <a:schemeClr val="bg2"/>
                </a:solidFill>
              </a:rPr>
              <a:t>GIS + BIM · spatial knowledge graphs · OGC · time-series DBs</a:t>
            </a:r>
            <a:endParaRPr lang="en-US" sz="1300" dirty="0"/>
          </a:p>
        </p:txBody>
      </p:sp>
      <p:sp>
        <p:nvSpPr>
          <p:cNvPr id="19" name="layer 1"/>
          <p:cNvSpPr/>
          <p:nvPr/>
        </p:nvSpPr>
        <p:spPr>
          <a:xfrm>
            <a:off x="548640" y="4974336"/>
            <a:ext cx="6035040" cy="914400"/>
          </a:xfrm>
          <a:prstGeom prst="roundRect">
            <a:avLst>
              <a:gd name="adj" fmla="val 12000"/>
            </a:avLst>
          </a:prstGeom>
          <a:solidFill>
            <a:schemeClr val="tx2"/>
          </a:solidFill>
          <a:ln w="9525">
            <a:solidFill>
              <a:srgbClr val="5A2A6E"/>
            </a:solidFill>
            <a:prstDash val="solid"/>
          </a:ln>
        </p:spPr>
      </p:sp>
      <p:sp>
        <p:nvSpPr>
          <p:cNvPr id="20" name="ring 1"/>
          <p:cNvSpPr/>
          <p:nvPr/>
        </p:nvSpPr>
        <p:spPr>
          <a:xfrm>
            <a:off x="749808" y="5157216"/>
            <a:ext cx="548640" cy="548640"/>
          </a:xfrm>
          <a:prstGeom prst="ellipse">
            <a:avLst/>
          </a:prstGeom>
          <a:solidFill>
            <a:srgbClr val="1A0420"/>
          </a:solidFill>
          <a:ln w="25400">
            <a:solidFill>
              <a:schemeClr val="accent1"/>
            </a:solidFill>
            <a:prstDash val="solid"/>
          </a:ln>
        </p:spPr>
      </p:sp>
      <p:sp>
        <p:nvSpPr>
          <p:cNvPr id="21" name="Text 19"/>
          <p:cNvSpPr txBox="1"/>
          <p:nvPr/>
        </p:nvSpPr>
        <p:spPr>
          <a:xfrm>
            <a:off x="749808" y="5157216"/>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22" name="Text 20"/>
          <p:cNvSpPr txBox="1"/>
          <p:nvPr/>
        </p:nvSpPr>
        <p:spPr>
          <a:xfrm>
            <a:off x="1508760" y="5102352"/>
            <a:ext cx="4937760" cy="347472"/>
          </a:xfrm>
          <a:prstGeom prst="rect">
            <a:avLst/>
          </a:prstGeom>
          <a:noFill/>
          <a:ln/>
        </p:spPr>
        <p:txBody>
          <a:bodyPr wrap="square" lIns="0" tIns="0" rIns="0" bIns="0" rtlCol="0" anchor="t"/>
          <a:lstStyle/>
          <a:p>
            <a:pPr indent="0" marL="0">
              <a:buNone/>
            </a:pPr>
            <a:r>
              <a:rPr lang="en-US" sz="1600" b="1" dirty="0">
                <a:solidFill>
                  <a:schemeClr val="bg1"/>
                </a:solidFill>
              </a:rPr>
              <a:t>Ingestion &amp; IoT Telemetry</a:t>
            </a:r>
            <a:endParaRPr lang="en-US" sz="1600" dirty="0"/>
          </a:p>
        </p:txBody>
      </p:sp>
      <p:sp>
        <p:nvSpPr>
          <p:cNvPr id="23" name="Text 21"/>
          <p:cNvSpPr txBox="1"/>
          <p:nvPr/>
        </p:nvSpPr>
        <p:spPr>
          <a:xfrm>
            <a:off x="1508760" y="5449824"/>
            <a:ext cx="4937760" cy="347472"/>
          </a:xfrm>
          <a:prstGeom prst="rect">
            <a:avLst/>
          </a:prstGeom>
          <a:noFill/>
          <a:ln/>
        </p:spPr>
        <p:txBody>
          <a:bodyPr wrap="square" lIns="0" tIns="0" rIns="0" bIns="0" rtlCol="0" anchor="t"/>
          <a:lstStyle/>
          <a:p>
            <a:pPr indent="0" marL="0">
              <a:buNone/>
            </a:pPr>
            <a:r>
              <a:rPr lang="en-US" sz="1300" dirty="0">
                <a:solidFill>
                  <a:schemeClr val="bg2"/>
                </a:solidFill>
              </a:rPr>
              <a:t>SCADA · 5G edge · LoRaWAN · Kafka / MQTT streaming</a:t>
            </a:r>
            <a:endParaRPr lang="en-US" sz="1300" dirty="0"/>
          </a:p>
        </p:txBody>
      </p:sp>
      <p:sp>
        <p:nvSpPr>
          <p:cNvPr id="24" name="Text 22"/>
          <p:cNvSpPr txBox="1"/>
          <p:nvPr/>
        </p:nvSpPr>
        <p:spPr>
          <a:xfrm>
            <a:off x="6995160" y="1737360"/>
            <a:ext cx="4663440" cy="365760"/>
          </a:xfrm>
          <a:prstGeom prst="rect">
            <a:avLst/>
          </a:prstGeom>
          <a:noFill/>
          <a:ln/>
        </p:spPr>
        <p:txBody>
          <a:bodyPr wrap="square" lIns="0" tIns="0" rIns="0" bIns="0" rtlCol="0" anchor="t"/>
          <a:lstStyle/>
          <a:p>
            <a:pPr indent="0" marL="0">
              <a:buNone/>
            </a:pPr>
            <a:r>
              <a:rPr lang="en-US" sz="1700" b="1" dirty="0">
                <a:solidFill>
                  <a:schemeClr val="accent4"/>
                </a:solidFill>
              </a:rPr>
              <a:t>Key operational challenges</a:t>
            </a:r>
            <a:endParaRPr lang="en-US" sz="1700" dirty="0"/>
          </a:p>
        </p:txBody>
      </p:sp>
      <p:sp>
        <p:nvSpPr>
          <p:cNvPr id="25" name="risk Siloed data"/>
          <p:cNvSpPr/>
          <p:nvPr/>
        </p:nvSpPr>
        <p:spPr>
          <a:xfrm>
            <a:off x="6995160" y="2240280"/>
            <a:ext cx="4663440" cy="1143000"/>
          </a:xfrm>
          <a:prstGeom prst="roundRect">
            <a:avLst>
              <a:gd name="adj" fmla="val 9600"/>
            </a:avLst>
          </a:prstGeom>
          <a:solidFill>
            <a:schemeClr val="tx2"/>
          </a:solidFill>
          <a:ln w="9525">
            <a:solidFill>
              <a:srgbClr val="5A2A6E"/>
            </a:solidFill>
            <a:prstDash val="solid"/>
          </a:ln>
        </p:spPr>
      </p:sp>
      <p:sp>
        <p:nvSpPr>
          <p:cNvPr id="26" name="Text 24"/>
          <p:cNvSpPr txBox="1"/>
          <p:nvPr/>
        </p:nvSpPr>
        <p:spPr>
          <a:xfrm>
            <a:off x="7223760" y="2377440"/>
            <a:ext cx="4206240" cy="329184"/>
          </a:xfrm>
          <a:prstGeom prst="rect">
            <a:avLst/>
          </a:prstGeom>
          <a:noFill/>
          <a:ln/>
        </p:spPr>
        <p:txBody>
          <a:bodyPr wrap="square" lIns="0" tIns="0" rIns="0" bIns="0" rtlCol="0" anchor="t"/>
          <a:lstStyle/>
          <a:p>
            <a:pPr indent="0" marL="0">
              <a:buNone/>
            </a:pPr>
            <a:r>
              <a:rPr lang="en-US" sz="1600" b="1" dirty="0">
                <a:solidFill>
                  <a:schemeClr val="accent2"/>
                </a:solidFill>
              </a:rPr>
              <a:t>Siloed data</a:t>
            </a:r>
            <a:endParaRPr lang="en-US" sz="1600" dirty="0"/>
          </a:p>
        </p:txBody>
      </p:sp>
      <p:sp>
        <p:nvSpPr>
          <p:cNvPr id="27" name="Text 25"/>
          <p:cNvSpPr txBox="1"/>
          <p:nvPr/>
        </p:nvSpPr>
        <p:spPr>
          <a:xfrm>
            <a:off x="7223760" y="2697480"/>
            <a:ext cx="4206240" cy="640080"/>
          </a:xfrm>
          <a:prstGeom prst="rect">
            <a:avLst/>
          </a:prstGeom>
          <a:noFill/>
          <a:ln/>
        </p:spPr>
        <p:txBody>
          <a:bodyPr wrap="square" lIns="0" tIns="0" rIns="0" bIns="0" rtlCol="0" anchor="t"/>
          <a:lstStyle/>
          <a:p>
            <a:pPr indent="0" marL="0">
              <a:buNone/>
            </a:pPr>
            <a:r>
              <a:rPr lang="en-US" sz="1300" dirty="0">
                <a:solidFill>
                  <a:schemeClr val="bg2"/>
                </a:solidFill>
              </a:rPr>
              <a:t>Bridging utility SCADA, transit feeds and land registries into one semantic standard (OGC CityGML, Energy ADE).</a:t>
            </a:r>
            <a:endParaRPr lang="en-US" sz="1300" dirty="0"/>
          </a:p>
        </p:txBody>
      </p:sp>
      <p:sp>
        <p:nvSpPr>
          <p:cNvPr id="28" name="risk Citizen privacy"/>
          <p:cNvSpPr/>
          <p:nvPr/>
        </p:nvSpPr>
        <p:spPr>
          <a:xfrm>
            <a:off x="6995160" y="3538728"/>
            <a:ext cx="4663440" cy="1143000"/>
          </a:xfrm>
          <a:prstGeom prst="roundRect">
            <a:avLst>
              <a:gd name="adj" fmla="val 9600"/>
            </a:avLst>
          </a:prstGeom>
          <a:solidFill>
            <a:schemeClr val="tx2"/>
          </a:solidFill>
          <a:ln w="9525">
            <a:solidFill>
              <a:srgbClr val="5A2A6E"/>
            </a:solidFill>
            <a:prstDash val="solid"/>
          </a:ln>
        </p:spPr>
      </p:sp>
      <p:sp>
        <p:nvSpPr>
          <p:cNvPr id="29" name="Text 27"/>
          <p:cNvSpPr txBox="1"/>
          <p:nvPr/>
        </p:nvSpPr>
        <p:spPr>
          <a:xfrm>
            <a:off x="7223760" y="3675888"/>
            <a:ext cx="4206240" cy="329184"/>
          </a:xfrm>
          <a:prstGeom prst="rect">
            <a:avLst/>
          </a:prstGeom>
          <a:noFill/>
          <a:ln/>
        </p:spPr>
        <p:txBody>
          <a:bodyPr wrap="square" lIns="0" tIns="0" rIns="0" bIns="0" rtlCol="0" anchor="t"/>
          <a:lstStyle/>
          <a:p>
            <a:pPr indent="0" marL="0">
              <a:buNone/>
            </a:pPr>
            <a:r>
              <a:rPr lang="en-US" sz="1600" b="1" dirty="0">
                <a:solidFill>
                  <a:schemeClr val="accent4"/>
                </a:solidFill>
              </a:rPr>
              <a:t>Citizen privacy</a:t>
            </a:r>
            <a:endParaRPr lang="en-US" sz="1600" dirty="0"/>
          </a:p>
        </p:txBody>
      </p:sp>
      <p:sp>
        <p:nvSpPr>
          <p:cNvPr id="30" name="Text 28"/>
          <p:cNvSpPr txBox="1"/>
          <p:nvPr/>
        </p:nvSpPr>
        <p:spPr>
          <a:xfrm>
            <a:off x="7223760" y="3995928"/>
            <a:ext cx="4206240" cy="640080"/>
          </a:xfrm>
          <a:prstGeom prst="rect">
            <a:avLst/>
          </a:prstGeom>
          <a:noFill/>
          <a:ln/>
        </p:spPr>
        <p:txBody>
          <a:bodyPr wrap="square" lIns="0" tIns="0" rIns="0" bIns="0" rtlCol="0" anchor="t"/>
          <a:lstStyle/>
          <a:p>
            <a:pPr indent="0" marL="0">
              <a:buNone/>
            </a:pPr>
            <a:r>
              <a:rPr lang="en-US" sz="1300" dirty="0">
                <a:solidFill>
                  <a:schemeClr val="bg2"/>
                </a:solidFill>
              </a:rPr>
              <a:t>Balancing live computer vision with edge redaction and differential privacy.</a:t>
            </a:r>
            <a:endParaRPr lang="en-US" sz="1300" dirty="0"/>
          </a:p>
        </p:txBody>
      </p:sp>
      <p:sp>
        <p:nvSpPr>
          <p:cNvPr id="31" name="risk Model drift"/>
          <p:cNvSpPr/>
          <p:nvPr/>
        </p:nvSpPr>
        <p:spPr>
          <a:xfrm>
            <a:off x="6995160" y="4837176"/>
            <a:ext cx="4663440" cy="1143000"/>
          </a:xfrm>
          <a:prstGeom prst="roundRect">
            <a:avLst>
              <a:gd name="adj" fmla="val 9600"/>
            </a:avLst>
          </a:prstGeom>
          <a:solidFill>
            <a:schemeClr val="tx2"/>
          </a:solidFill>
          <a:ln w="9525">
            <a:solidFill>
              <a:srgbClr val="5A2A6E"/>
            </a:solidFill>
            <a:prstDash val="solid"/>
          </a:ln>
        </p:spPr>
      </p:sp>
      <p:sp>
        <p:nvSpPr>
          <p:cNvPr id="32" name="Text 30"/>
          <p:cNvSpPr txBox="1"/>
          <p:nvPr/>
        </p:nvSpPr>
        <p:spPr>
          <a:xfrm>
            <a:off x="7223760" y="4974336"/>
            <a:ext cx="4206240" cy="329184"/>
          </a:xfrm>
          <a:prstGeom prst="rect">
            <a:avLst/>
          </a:prstGeom>
          <a:noFill/>
          <a:ln/>
        </p:spPr>
        <p:txBody>
          <a:bodyPr wrap="square" lIns="0" tIns="0" rIns="0" bIns="0" rtlCol="0" anchor="t"/>
          <a:lstStyle/>
          <a:p>
            <a:pPr indent="0" marL="0">
              <a:buNone/>
            </a:pPr>
            <a:r>
              <a:rPr lang="en-US" sz="1600" b="1" dirty="0">
                <a:solidFill>
                  <a:schemeClr val="accent6"/>
                </a:solidFill>
              </a:rPr>
              <a:t>Model drift</a:t>
            </a:r>
            <a:endParaRPr lang="en-US" sz="1600" dirty="0"/>
          </a:p>
        </p:txBody>
      </p:sp>
      <p:sp>
        <p:nvSpPr>
          <p:cNvPr id="33" name="Text 31"/>
          <p:cNvSpPr txBox="1"/>
          <p:nvPr/>
        </p:nvSpPr>
        <p:spPr>
          <a:xfrm>
            <a:off x="7223760" y="5294376"/>
            <a:ext cx="4206240" cy="640080"/>
          </a:xfrm>
          <a:prstGeom prst="rect">
            <a:avLst/>
          </a:prstGeom>
          <a:noFill/>
          <a:ln/>
        </p:spPr>
        <p:txBody>
          <a:bodyPr wrap="square" lIns="0" tIns="0" rIns="0" bIns="0" rtlCol="0" anchor="t"/>
          <a:lstStyle/>
          <a:p>
            <a:pPr indent="0" marL="0">
              <a:buNone/>
            </a:pPr>
            <a:r>
              <a:rPr lang="en-US" sz="1300" dirty="0">
                <a:solidFill>
                  <a:schemeClr val="bg2"/>
                </a:solidFill>
              </a:rPr>
              <a:t>Keeping the twin in sync with construction, sensor decay and growing trees.</a:t>
            </a:r>
            <a:endParaRPr lang="en-US" sz="13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04 · OODA LOOP</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A digital twin is an OODA loop in silicon and sensors</a:t>
            </a:r>
            <a:endParaRPr lang="en-US" sz="2800" dirty="0"/>
          </a:p>
        </p:txBody>
      </p:sp>
      <p:pic>
        <p:nvPicPr>
          <p:cNvPr id="4" name="System-level digital twin OODA loop around a smart-factory robot arm" descr="System-level digital twin OODA loop around a smart-factory robot arm">    </p:cNvPr>
          <p:cNvPicPr>
            <a:picLocks noChangeAspect="1"/>
          </p:cNvPicPr>
          <p:nvPr/>
        </p:nvPicPr>
        <p:blipFill>
          <a:blip r:embed="rId1"/>
          <a:stretch>
            <a:fillRect/>
          </a:stretch>
        </p:blipFill>
        <p:spPr>
          <a:xfrm>
            <a:off x="548640" y="1691640"/>
            <a:ext cx="6035040" cy="4050792"/>
          </a:xfrm>
          <a:prstGeom prst="rect">
            <a:avLst/>
          </a:prstGeom>
        </p:spPr>
      </p:pic>
      <p:sp>
        <p:nvSpPr>
          <p:cNvPr id="5" name="ring O"/>
          <p:cNvSpPr/>
          <p:nvPr/>
        </p:nvSpPr>
        <p:spPr>
          <a:xfrm>
            <a:off x="6949440" y="1737360"/>
            <a:ext cx="566928" cy="566928"/>
          </a:xfrm>
          <a:prstGeom prst="ellipse">
            <a:avLst/>
          </a:prstGeom>
          <a:solidFill>
            <a:srgbClr val="1A0420"/>
          </a:solidFill>
          <a:ln w="25400">
            <a:solidFill>
              <a:schemeClr val="accent1"/>
            </a:solidFill>
            <a:prstDash val="solid"/>
          </a:ln>
        </p:spPr>
      </p:sp>
      <p:sp>
        <p:nvSpPr>
          <p:cNvPr id="6" name="Text 3"/>
          <p:cNvSpPr txBox="1"/>
          <p:nvPr/>
        </p:nvSpPr>
        <p:spPr>
          <a:xfrm>
            <a:off x="6949440" y="1737360"/>
            <a:ext cx="566928" cy="566928"/>
          </a:xfrm>
          <a:prstGeom prst="rect">
            <a:avLst/>
          </a:prstGeom>
          <a:noFill/>
          <a:ln/>
        </p:spPr>
        <p:txBody>
          <a:bodyPr wrap="square" lIns="0" tIns="0" rIns="0" bIns="0" rtlCol="0" anchor="ctr"/>
          <a:lstStyle/>
          <a:p>
            <a:pPr algn="ctr" indent="0" marL="0">
              <a:buNone/>
            </a:pPr>
            <a:r>
              <a:rPr lang="en-US" sz="1600" b="1" dirty="0">
                <a:solidFill>
                  <a:schemeClr val="accent1"/>
                </a:solidFill>
              </a:rPr>
              <a:t>O</a:t>
            </a:r>
            <a:endParaRPr lang="en-US" sz="1600" dirty="0"/>
          </a:p>
        </p:txBody>
      </p:sp>
      <p:sp>
        <p:nvSpPr>
          <p:cNvPr id="7" name="Text 4"/>
          <p:cNvSpPr txBox="1"/>
          <p:nvPr/>
        </p:nvSpPr>
        <p:spPr>
          <a:xfrm>
            <a:off x="7726680" y="1719072"/>
            <a:ext cx="3931920" cy="347472"/>
          </a:xfrm>
          <a:prstGeom prst="rect">
            <a:avLst/>
          </a:prstGeom>
          <a:noFill/>
          <a:ln/>
        </p:spPr>
        <p:txBody>
          <a:bodyPr wrap="square" lIns="0" tIns="0" rIns="0" bIns="0" rtlCol="0" anchor="t"/>
          <a:lstStyle/>
          <a:p>
            <a:pPr indent="0" marL="0">
              <a:buNone/>
            </a:pPr>
            <a:r>
              <a:rPr lang="en-US" sz="1700" b="1" dirty="0">
                <a:solidFill>
                  <a:schemeClr val="accent1"/>
                </a:solidFill>
              </a:rPr>
              <a:t>Observe</a:t>
            </a:r>
            <a:endParaRPr lang="en-US" sz="1700" dirty="0"/>
          </a:p>
        </p:txBody>
      </p:sp>
      <p:sp>
        <p:nvSpPr>
          <p:cNvPr id="8" name="Text 5"/>
          <p:cNvSpPr txBox="1"/>
          <p:nvPr/>
        </p:nvSpPr>
        <p:spPr>
          <a:xfrm>
            <a:off x="7726680" y="2066544"/>
            <a:ext cx="3931920" cy="603504"/>
          </a:xfrm>
          <a:prstGeom prst="rect">
            <a:avLst/>
          </a:prstGeom>
          <a:noFill/>
          <a:ln/>
        </p:spPr>
        <p:txBody>
          <a:bodyPr wrap="square" lIns="0" tIns="0" rIns="0" bIns="0" rtlCol="0" anchor="t"/>
          <a:lstStyle/>
          <a:p>
            <a:pPr indent="0" marL="0">
              <a:buNone/>
            </a:pPr>
            <a:r>
              <a:rPr lang="en-US" sz="1400" dirty="0">
                <a:solidFill>
                  <a:schemeClr val="bg2"/>
                </a:solidFill>
              </a:rPr>
              <a:t>IoT sensors stream vibration, heat and sound in under 10 ms.</a:t>
            </a:r>
            <a:endParaRPr lang="en-US" sz="1400" dirty="0"/>
          </a:p>
        </p:txBody>
      </p:sp>
      <p:sp>
        <p:nvSpPr>
          <p:cNvPr id="9" name="ring O"/>
          <p:cNvSpPr/>
          <p:nvPr/>
        </p:nvSpPr>
        <p:spPr>
          <a:xfrm>
            <a:off x="6949440" y="2761488"/>
            <a:ext cx="566928" cy="566928"/>
          </a:xfrm>
          <a:prstGeom prst="ellipse">
            <a:avLst/>
          </a:prstGeom>
          <a:solidFill>
            <a:srgbClr val="1A0420"/>
          </a:solidFill>
          <a:ln w="25400">
            <a:solidFill>
              <a:schemeClr val="accent4"/>
            </a:solidFill>
            <a:prstDash val="solid"/>
          </a:ln>
        </p:spPr>
      </p:sp>
      <p:sp>
        <p:nvSpPr>
          <p:cNvPr id="10" name="Text 7"/>
          <p:cNvSpPr txBox="1"/>
          <p:nvPr/>
        </p:nvSpPr>
        <p:spPr>
          <a:xfrm>
            <a:off x="6949440" y="2761488"/>
            <a:ext cx="566928" cy="566928"/>
          </a:xfrm>
          <a:prstGeom prst="rect">
            <a:avLst/>
          </a:prstGeom>
          <a:noFill/>
          <a:ln/>
        </p:spPr>
        <p:txBody>
          <a:bodyPr wrap="square" lIns="0" tIns="0" rIns="0" bIns="0" rtlCol="0" anchor="ctr"/>
          <a:lstStyle/>
          <a:p>
            <a:pPr algn="ctr" indent="0" marL="0">
              <a:buNone/>
            </a:pPr>
            <a:r>
              <a:rPr lang="en-US" sz="1600" b="1" dirty="0">
                <a:solidFill>
                  <a:schemeClr val="accent4"/>
                </a:solidFill>
              </a:rPr>
              <a:t>O</a:t>
            </a:r>
            <a:endParaRPr lang="en-US" sz="1600" dirty="0"/>
          </a:p>
        </p:txBody>
      </p:sp>
      <p:sp>
        <p:nvSpPr>
          <p:cNvPr id="11" name="Text 8"/>
          <p:cNvSpPr txBox="1"/>
          <p:nvPr/>
        </p:nvSpPr>
        <p:spPr>
          <a:xfrm>
            <a:off x="7726680" y="2743200"/>
            <a:ext cx="3931920" cy="347472"/>
          </a:xfrm>
          <a:prstGeom prst="rect">
            <a:avLst/>
          </a:prstGeom>
          <a:noFill/>
          <a:ln/>
        </p:spPr>
        <p:txBody>
          <a:bodyPr wrap="square" lIns="0" tIns="0" rIns="0" bIns="0" rtlCol="0" anchor="t"/>
          <a:lstStyle/>
          <a:p>
            <a:pPr indent="0" marL="0">
              <a:buNone/>
            </a:pPr>
            <a:r>
              <a:rPr lang="en-US" sz="1700" b="1" dirty="0">
                <a:solidFill>
                  <a:schemeClr val="accent4"/>
                </a:solidFill>
              </a:rPr>
              <a:t>Orient</a:t>
            </a:r>
            <a:endParaRPr lang="en-US" sz="1700" dirty="0"/>
          </a:p>
        </p:txBody>
      </p:sp>
      <p:sp>
        <p:nvSpPr>
          <p:cNvPr id="12" name="Text 9"/>
          <p:cNvSpPr txBox="1"/>
          <p:nvPr/>
        </p:nvSpPr>
        <p:spPr>
          <a:xfrm>
            <a:off x="7726680" y="3090672"/>
            <a:ext cx="3931920" cy="603504"/>
          </a:xfrm>
          <a:prstGeom prst="rect">
            <a:avLst/>
          </a:prstGeom>
          <a:noFill/>
          <a:ln/>
        </p:spPr>
        <p:txBody>
          <a:bodyPr wrap="square" lIns="0" tIns="0" rIns="0" bIns="0" rtlCol="0" anchor="t"/>
          <a:lstStyle/>
          <a:p>
            <a:pPr indent="0" marL="0">
              <a:buNone/>
            </a:pPr>
            <a:r>
              <a:rPr lang="en-US" sz="1400" dirty="0">
                <a:solidFill>
                  <a:schemeClr val="bg2"/>
                </a:solidFill>
              </a:rPr>
              <a:t>Physics + ML tell normal expansion from bearing wear (+14.2% friction).</a:t>
            </a:r>
            <a:endParaRPr lang="en-US" sz="1400" dirty="0"/>
          </a:p>
        </p:txBody>
      </p:sp>
      <p:sp>
        <p:nvSpPr>
          <p:cNvPr id="13" name="ring D"/>
          <p:cNvSpPr/>
          <p:nvPr/>
        </p:nvSpPr>
        <p:spPr>
          <a:xfrm>
            <a:off x="6949440" y="3785616"/>
            <a:ext cx="566928" cy="566928"/>
          </a:xfrm>
          <a:prstGeom prst="ellipse">
            <a:avLst/>
          </a:prstGeom>
          <a:solidFill>
            <a:srgbClr val="1A0420"/>
          </a:solidFill>
          <a:ln w="25400">
            <a:solidFill>
              <a:schemeClr val="accent6"/>
            </a:solidFill>
            <a:prstDash val="solid"/>
          </a:ln>
        </p:spPr>
      </p:sp>
      <p:sp>
        <p:nvSpPr>
          <p:cNvPr id="14" name="Text 11"/>
          <p:cNvSpPr txBox="1"/>
          <p:nvPr/>
        </p:nvSpPr>
        <p:spPr>
          <a:xfrm>
            <a:off x="6949440" y="3785616"/>
            <a:ext cx="566928" cy="566928"/>
          </a:xfrm>
          <a:prstGeom prst="rect">
            <a:avLst/>
          </a:prstGeom>
          <a:noFill/>
          <a:ln/>
        </p:spPr>
        <p:txBody>
          <a:bodyPr wrap="square" lIns="0" tIns="0" rIns="0" bIns="0" rtlCol="0" anchor="ctr"/>
          <a:lstStyle/>
          <a:p>
            <a:pPr algn="ctr" indent="0" marL="0">
              <a:buNone/>
            </a:pPr>
            <a:r>
              <a:rPr lang="en-US" sz="1600" b="1" dirty="0">
                <a:solidFill>
                  <a:schemeClr val="accent6"/>
                </a:solidFill>
              </a:rPr>
              <a:t>D</a:t>
            </a:r>
            <a:endParaRPr lang="en-US" sz="1600" dirty="0"/>
          </a:p>
        </p:txBody>
      </p:sp>
      <p:sp>
        <p:nvSpPr>
          <p:cNvPr id="15" name="Text 12"/>
          <p:cNvSpPr txBox="1"/>
          <p:nvPr/>
        </p:nvSpPr>
        <p:spPr>
          <a:xfrm>
            <a:off x="7726680" y="3767328"/>
            <a:ext cx="3931920" cy="347472"/>
          </a:xfrm>
          <a:prstGeom prst="rect">
            <a:avLst/>
          </a:prstGeom>
          <a:noFill/>
          <a:ln/>
        </p:spPr>
        <p:txBody>
          <a:bodyPr wrap="square" lIns="0" tIns="0" rIns="0" bIns="0" rtlCol="0" anchor="t"/>
          <a:lstStyle/>
          <a:p>
            <a:pPr indent="0" marL="0">
              <a:buNone/>
            </a:pPr>
            <a:r>
              <a:rPr lang="en-US" sz="1700" b="1" dirty="0">
                <a:solidFill>
                  <a:schemeClr val="accent6"/>
                </a:solidFill>
              </a:rPr>
              <a:t>Decide</a:t>
            </a:r>
            <a:endParaRPr lang="en-US" sz="1700" dirty="0"/>
          </a:p>
        </p:txBody>
      </p:sp>
      <p:sp>
        <p:nvSpPr>
          <p:cNvPr id="16" name="Text 13"/>
          <p:cNvSpPr txBox="1"/>
          <p:nvPr/>
        </p:nvSpPr>
        <p:spPr>
          <a:xfrm>
            <a:off x="7726680" y="4114800"/>
            <a:ext cx="3931920" cy="603504"/>
          </a:xfrm>
          <a:prstGeom prst="rect">
            <a:avLst/>
          </a:prstGeom>
          <a:noFill/>
          <a:ln/>
        </p:spPr>
        <p:txBody>
          <a:bodyPr wrap="square" lIns="0" tIns="0" rIns="0" bIns="0" rtlCol="0" anchor="t"/>
          <a:lstStyle/>
          <a:p>
            <a:pPr indent="0" marL="0">
              <a:buNone/>
            </a:pPr>
            <a:r>
              <a:rPr lang="en-US" sz="1400" dirty="0">
                <a:solidFill>
                  <a:schemeClr val="bg2"/>
                </a:solidFill>
              </a:rPr>
              <a:t>Parallel what-if simulations pick the best path: slow down 15%.</a:t>
            </a:r>
            <a:endParaRPr lang="en-US" sz="1400" dirty="0"/>
          </a:p>
        </p:txBody>
      </p:sp>
      <p:sp>
        <p:nvSpPr>
          <p:cNvPr id="17" name="ring A"/>
          <p:cNvSpPr/>
          <p:nvPr/>
        </p:nvSpPr>
        <p:spPr>
          <a:xfrm>
            <a:off x="6949440" y="4809744"/>
            <a:ext cx="566928" cy="566928"/>
          </a:xfrm>
          <a:prstGeom prst="ellipse">
            <a:avLst/>
          </a:prstGeom>
          <a:solidFill>
            <a:srgbClr val="1A0420"/>
          </a:solidFill>
          <a:ln w="25400">
            <a:solidFill>
              <a:schemeClr val="accent5"/>
            </a:solidFill>
            <a:prstDash val="solid"/>
          </a:ln>
        </p:spPr>
      </p:sp>
      <p:sp>
        <p:nvSpPr>
          <p:cNvPr id="18" name="Text 15"/>
          <p:cNvSpPr txBox="1"/>
          <p:nvPr/>
        </p:nvSpPr>
        <p:spPr>
          <a:xfrm>
            <a:off x="6949440" y="4809744"/>
            <a:ext cx="566928" cy="566928"/>
          </a:xfrm>
          <a:prstGeom prst="rect">
            <a:avLst/>
          </a:prstGeom>
          <a:noFill/>
          <a:ln/>
        </p:spPr>
        <p:txBody>
          <a:bodyPr wrap="square" lIns="0" tIns="0" rIns="0" bIns="0" rtlCol="0" anchor="ctr"/>
          <a:lstStyle/>
          <a:p>
            <a:pPr algn="ctr" indent="0" marL="0">
              <a:buNone/>
            </a:pPr>
            <a:r>
              <a:rPr lang="en-US" sz="1600" b="1" dirty="0">
                <a:solidFill>
                  <a:schemeClr val="accent5"/>
                </a:solidFill>
              </a:rPr>
              <a:t>A</a:t>
            </a:r>
            <a:endParaRPr lang="en-US" sz="1600" dirty="0"/>
          </a:p>
        </p:txBody>
      </p:sp>
      <p:sp>
        <p:nvSpPr>
          <p:cNvPr id="19" name="Text 16"/>
          <p:cNvSpPr txBox="1"/>
          <p:nvPr/>
        </p:nvSpPr>
        <p:spPr>
          <a:xfrm>
            <a:off x="7726680" y="4791456"/>
            <a:ext cx="3931920" cy="347472"/>
          </a:xfrm>
          <a:prstGeom prst="rect">
            <a:avLst/>
          </a:prstGeom>
          <a:noFill/>
          <a:ln/>
        </p:spPr>
        <p:txBody>
          <a:bodyPr wrap="square" lIns="0" tIns="0" rIns="0" bIns="0" rtlCol="0" anchor="t"/>
          <a:lstStyle/>
          <a:p>
            <a:pPr indent="0" marL="0">
              <a:buNone/>
            </a:pPr>
            <a:r>
              <a:rPr lang="en-US" sz="1700" b="1" dirty="0">
                <a:solidFill>
                  <a:schemeClr val="accent5"/>
                </a:solidFill>
              </a:rPr>
              <a:t>Act</a:t>
            </a:r>
            <a:endParaRPr lang="en-US" sz="1700" dirty="0"/>
          </a:p>
        </p:txBody>
      </p:sp>
      <p:sp>
        <p:nvSpPr>
          <p:cNvPr id="20" name="Text 17"/>
          <p:cNvSpPr txBox="1"/>
          <p:nvPr/>
        </p:nvSpPr>
        <p:spPr>
          <a:xfrm>
            <a:off x="7726680" y="5138928"/>
            <a:ext cx="3931920" cy="603504"/>
          </a:xfrm>
          <a:prstGeom prst="rect">
            <a:avLst/>
          </a:prstGeom>
          <a:noFill/>
          <a:ln/>
        </p:spPr>
        <p:txBody>
          <a:bodyPr wrap="square" lIns="0" tIns="0" rIns="0" bIns="0" rtlCol="0" anchor="t"/>
          <a:lstStyle/>
          <a:p>
            <a:pPr indent="0" marL="0">
              <a:buNone/>
            </a:pPr>
            <a:r>
              <a:rPr lang="en-US" sz="1400" dirty="0">
                <a:solidFill>
                  <a:schemeClr val="bg2"/>
                </a:solidFill>
              </a:rPr>
              <a:t>PLC commands go out; the asset responds and the loop restarts.</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04 · COMPARATIVE SYNTHESIS</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Twins close the loop in milliseconds, not months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286000"/>
                <a:gridCol w="2834640"/>
                <a:gridCol w="2834640"/>
                <a:gridCol w="3108960"/>
              </a:tblGrid>
              <a:tr h="502920">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Daily life</a:t>
                      </a:r>
                      <a:endParaRPr lang="en-US" sz="13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Technological waves</a:t>
                      </a:r>
                      <a:endParaRPr lang="en-US" sz="13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Digital twins</a:t>
                      </a:r>
                      <a:endParaRPr lang="en-US" sz="13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r>
              <a:tr h="77724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Clock speed</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Hours to weeks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Months to years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Milliseconds to seconds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8686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Primary failure mode</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Biased mental models (poor Orient)</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Sunk-cost fallacy and organizational inertia</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Sensor noise or uncalibrated simulation models</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8686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Ultimate objective</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Sustainable personal agency and clarity</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Market relevance and disruptive advantage</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500" dirty="0">
                          <a:solidFill>
                            <a:schemeClr val="accent5"/>
                          </a:solidFill>
                          <a:latin typeface="Calibri" pitchFamily="34" charset="0"/>
                          <a:ea typeface="Calibri" pitchFamily="34" charset="-122"/>
                          <a:cs typeface="Calibri" pitchFamily="34" charset="-120"/>
                        </a:rPr>
                        <a:t>Autonomous resilience and zero-downtime optimization</a:t>
                      </a:r>
                      <a:endParaRPr lang="en-US" sz="15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bl>
          </a:graphicData>
        </a:graphic>
      </p:graphicFrame>
      <p:sp>
        <p:nvSpPr>
          <p:cNvPr id="5" name="dynamic Daily life"/>
          <p:cNvSpPr/>
          <p:nvPr/>
        </p:nvSpPr>
        <p:spPr>
          <a:xfrm>
            <a:off x="548640" y="5074920"/>
            <a:ext cx="5440680" cy="1051560"/>
          </a:xfrm>
          <a:prstGeom prst="roundRect">
            <a:avLst>
              <a:gd name="adj" fmla="val 10435"/>
            </a:avLst>
          </a:prstGeom>
          <a:solidFill>
            <a:schemeClr val="tx2"/>
          </a:solidFill>
          <a:ln w="9525">
            <a:solidFill>
              <a:srgbClr val="5A2A6E"/>
            </a:solidFill>
            <a:prstDash val="solid"/>
          </a:ln>
        </p:spPr>
      </p:sp>
      <p:sp>
        <p:nvSpPr>
          <p:cNvPr id="6" name="Text 3"/>
          <p:cNvSpPr txBox="1"/>
          <p:nvPr/>
        </p:nvSpPr>
        <p:spPr>
          <a:xfrm>
            <a:off x="777240" y="5193792"/>
            <a:ext cx="4983480" cy="320040"/>
          </a:xfrm>
          <a:prstGeom prst="rect">
            <a:avLst/>
          </a:prstGeom>
          <a:noFill/>
          <a:ln/>
        </p:spPr>
        <p:txBody>
          <a:bodyPr wrap="square" lIns="0" tIns="0" rIns="0" bIns="0" rtlCol="0" anchor="t"/>
          <a:lstStyle/>
          <a:p>
            <a:pPr indent="0" marL="0">
              <a:buNone/>
            </a:pPr>
            <a:r>
              <a:rPr lang="en-US" sz="1500" b="1" dirty="0">
                <a:solidFill>
                  <a:schemeClr val="accent4"/>
                </a:solidFill>
              </a:rPr>
              <a:t>Daily life</a:t>
            </a:r>
            <a:endParaRPr lang="en-US" sz="1500" dirty="0"/>
          </a:p>
        </p:txBody>
      </p:sp>
      <p:sp>
        <p:nvSpPr>
          <p:cNvPr id="7" name="Text 4"/>
          <p:cNvSpPr txBox="1"/>
          <p:nvPr/>
        </p:nvSpPr>
        <p:spPr>
          <a:xfrm>
            <a:off x="777240" y="5513832"/>
            <a:ext cx="4983480" cy="548640"/>
          </a:xfrm>
          <a:prstGeom prst="rect">
            <a:avLst/>
          </a:prstGeom>
          <a:noFill/>
          <a:ln/>
        </p:spPr>
        <p:txBody>
          <a:bodyPr wrap="square" lIns="0" tIns="0" rIns="0" bIns="0" rtlCol="0" anchor="t"/>
          <a:lstStyle/>
          <a:p>
            <a:pPr indent="0" marL="0">
              <a:buNone/>
            </a:pPr>
            <a:r>
              <a:rPr lang="en-US" sz="1400" dirty="0">
                <a:solidFill>
                  <a:schemeClr val="bg2"/>
                </a:solidFill>
              </a:rPr>
              <a:t>Fast personal loops stop small misalignments from compounding into burnout.</a:t>
            </a:r>
            <a:endParaRPr lang="en-US" sz="1400" dirty="0"/>
          </a:p>
        </p:txBody>
      </p:sp>
      <p:sp>
        <p:nvSpPr>
          <p:cNvPr id="8" name="dynamic Organizations"/>
          <p:cNvSpPr/>
          <p:nvPr/>
        </p:nvSpPr>
        <p:spPr>
          <a:xfrm>
            <a:off x="6172200" y="5074920"/>
            <a:ext cx="5440680" cy="1051560"/>
          </a:xfrm>
          <a:prstGeom prst="roundRect">
            <a:avLst>
              <a:gd name="adj" fmla="val 10435"/>
            </a:avLst>
          </a:prstGeom>
          <a:solidFill>
            <a:schemeClr val="tx2"/>
          </a:solidFill>
          <a:ln w="9525">
            <a:solidFill>
              <a:srgbClr val="5A2A6E"/>
            </a:solidFill>
            <a:prstDash val="solid"/>
          </a:ln>
        </p:spPr>
      </p:sp>
      <p:sp>
        <p:nvSpPr>
          <p:cNvPr id="9" name="Text 6"/>
          <p:cNvSpPr txBox="1"/>
          <p:nvPr/>
        </p:nvSpPr>
        <p:spPr>
          <a:xfrm>
            <a:off x="6400800" y="5193792"/>
            <a:ext cx="4983480" cy="320040"/>
          </a:xfrm>
          <a:prstGeom prst="rect">
            <a:avLst/>
          </a:prstGeom>
          <a:noFill/>
          <a:ln/>
        </p:spPr>
        <p:txBody>
          <a:bodyPr wrap="square" lIns="0" tIns="0" rIns="0" bIns="0" rtlCol="0" anchor="t"/>
          <a:lstStyle/>
          <a:p>
            <a:pPr indent="0" marL="0">
              <a:buNone/>
            </a:pPr>
            <a:r>
              <a:rPr lang="en-US" sz="1500" b="1" dirty="0">
                <a:solidFill>
                  <a:schemeClr val="accent4"/>
                </a:solidFill>
              </a:rPr>
              <a:t>Organizations</a:t>
            </a:r>
            <a:endParaRPr lang="en-US" sz="1500" dirty="0"/>
          </a:p>
        </p:txBody>
      </p:sp>
      <p:sp>
        <p:nvSpPr>
          <p:cNvPr id="10" name="Text 7"/>
          <p:cNvSpPr txBox="1"/>
          <p:nvPr/>
        </p:nvSpPr>
        <p:spPr>
          <a:xfrm>
            <a:off x="6400800" y="5513832"/>
            <a:ext cx="4983480" cy="548640"/>
          </a:xfrm>
          <a:prstGeom prst="rect">
            <a:avLst/>
          </a:prstGeom>
          <a:noFill/>
          <a:ln/>
        </p:spPr>
        <p:txBody>
          <a:bodyPr wrap="square" lIns="0" tIns="0" rIns="0" bIns="0" rtlCol="0" anchor="t"/>
          <a:lstStyle/>
          <a:p>
            <a:pPr indent="0" marL="0">
              <a:buNone/>
            </a:pPr>
            <a:r>
              <a:rPr lang="en-US" sz="1400" dirty="0">
                <a:solidFill>
                  <a:schemeClr val="bg2"/>
                </a:solidFill>
              </a:rPr>
              <a:t>Modular teams re-orient in days; rigid hierarchies spend months debating the observation.</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04 · THE LOOP IN HEAVY INDUSTRY</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See, Think, Do pays off in energy and emissions</a:t>
            </a:r>
            <a:endParaRPr lang="en-US" sz="2800" dirty="0"/>
          </a:p>
        </p:txBody>
      </p:sp>
      <p:pic>
        <p:nvPicPr>
          <p:cNvPr id="4" name="Heavy asset intelligence: the digital twin operational framework" descr="Heavy asset intelligence: the digital twin operational framework">    </p:cNvPr>
          <p:cNvPicPr>
            <a:picLocks noChangeAspect="1"/>
          </p:cNvPicPr>
          <p:nvPr/>
        </p:nvPicPr>
        <p:blipFill>
          <a:blip r:embed="rId1"/>
          <a:stretch>
            <a:fillRect/>
          </a:stretch>
        </p:blipFill>
        <p:spPr>
          <a:xfrm>
            <a:off x="548640" y="1691640"/>
            <a:ext cx="7498080" cy="4178808"/>
          </a:xfrm>
          <a:prstGeom prst="rect">
            <a:avLst/>
          </a:prstGeom>
        </p:spPr>
      </p:pic>
      <p:sp>
        <p:nvSpPr>
          <p:cNvPr id="5" name="see-think-do less energy"/>
          <p:cNvSpPr/>
          <p:nvPr/>
        </p:nvSpPr>
        <p:spPr>
          <a:xfrm>
            <a:off x="8321040" y="1691640"/>
            <a:ext cx="3337560" cy="1280160"/>
          </a:xfrm>
          <a:prstGeom prst="roundRect">
            <a:avLst>
              <a:gd name="adj" fmla="val 8571"/>
            </a:avLst>
          </a:prstGeom>
          <a:solidFill>
            <a:schemeClr val="tx2"/>
          </a:solidFill>
          <a:ln w="9525">
            <a:solidFill>
              <a:srgbClr val="5A2A6E"/>
            </a:solidFill>
            <a:prstDash val="solid"/>
          </a:ln>
        </p:spPr>
      </p:sp>
      <p:sp>
        <p:nvSpPr>
          <p:cNvPr id="6" name="Text 3"/>
          <p:cNvSpPr txBox="1"/>
          <p:nvPr/>
        </p:nvSpPr>
        <p:spPr>
          <a:xfrm>
            <a:off x="8503920" y="1801368"/>
            <a:ext cx="3017520" cy="50292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10–25%</a:t>
            </a:r>
            <a:endParaRPr lang="en-US" sz="2600" dirty="0"/>
          </a:p>
        </p:txBody>
      </p:sp>
      <p:sp>
        <p:nvSpPr>
          <p:cNvPr id="7" name="Text 4"/>
          <p:cNvSpPr txBox="1"/>
          <p:nvPr/>
        </p:nvSpPr>
        <p:spPr>
          <a:xfrm>
            <a:off x="8503920" y="2258568"/>
            <a:ext cx="3017520" cy="274320"/>
          </a:xfrm>
          <a:prstGeom prst="rect">
            <a:avLst/>
          </a:prstGeom>
          <a:noFill/>
          <a:ln/>
        </p:spPr>
        <p:txBody>
          <a:bodyPr wrap="square" lIns="0" tIns="0" rIns="0" bIns="0" rtlCol="0" anchor="t"/>
          <a:lstStyle/>
          <a:p>
            <a:pPr indent="0" marL="0">
              <a:buNone/>
            </a:pPr>
            <a:r>
              <a:rPr lang="en-US" sz="1400" b="1" dirty="0">
                <a:solidFill>
                  <a:schemeClr val="bg1"/>
                </a:solidFill>
              </a:rPr>
              <a:t>less energy</a:t>
            </a:r>
            <a:endParaRPr lang="en-US" sz="1400" dirty="0"/>
          </a:p>
        </p:txBody>
      </p:sp>
      <p:sp>
        <p:nvSpPr>
          <p:cNvPr id="8" name="Text 5"/>
          <p:cNvSpPr txBox="1"/>
          <p:nvPr/>
        </p:nvSpPr>
        <p:spPr>
          <a:xfrm>
            <a:off x="8503920" y="2514600"/>
            <a:ext cx="3017520" cy="411480"/>
          </a:xfrm>
          <a:prstGeom prst="rect">
            <a:avLst/>
          </a:prstGeom>
          <a:noFill/>
          <a:ln/>
        </p:spPr>
        <p:txBody>
          <a:bodyPr wrap="square" lIns="0" tIns="0" rIns="0" bIns="0" rtlCol="0" anchor="t"/>
          <a:lstStyle/>
          <a:p>
            <a:pPr indent="0" marL="0">
              <a:buNone/>
            </a:pPr>
            <a:r>
              <a:rPr lang="en-US" sz="1100" dirty="0">
                <a:solidFill>
                  <a:schemeClr val="bg2"/>
                </a:solidFill>
              </a:rPr>
              <a:t>See ≈ Observe: vibration, temperature and torque streamed live</a:t>
            </a:r>
            <a:endParaRPr lang="en-US" sz="1100" dirty="0"/>
          </a:p>
        </p:txBody>
      </p:sp>
      <p:sp>
        <p:nvSpPr>
          <p:cNvPr id="9" name="see-think-do less unplanned downtime"/>
          <p:cNvSpPr/>
          <p:nvPr/>
        </p:nvSpPr>
        <p:spPr>
          <a:xfrm>
            <a:off x="8321040" y="3108960"/>
            <a:ext cx="3337560" cy="1280160"/>
          </a:xfrm>
          <a:prstGeom prst="roundRect">
            <a:avLst>
              <a:gd name="adj" fmla="val 8571"/>
            </a:avLst>
          </a:prstGeom>
          <a:solidFill>
            <a:schemeClr val="tx2"/>
          </a:solidFill>
          <a:ln w="9525">
            <a:solidFill>
              <a:srgbClr val="5A2A6E"/>
            </a:solidFill>
            <a:prstDash val="solid"/>
          </a:ln>
        </p:spPr>
      </p:sp>
      <p:sp>
        <p:nvSpPr>
          <p:cNvPr id="10" name="Text 7"/>
          <p:cNvSpPr txBox="1"/>
          <p:nvPr/>
        </p:nvSpPr>
        <p:spPr>
          <a:xfrm>
            <a:off x="8503920" y="3218688"/>
            <a:ext cx="3017520" cy="502920"/>
          </a:xfrm>
          <a:prstGeom prst="rect">
            <a:avLst/>
          </a:prstGeom>
          <a:noFill/>
          <a:ln/>
        </p:spPr>
        <p:txBody>
          <a:bodyPr wrap="square" lIns="0" tIns="0" rIns="0" bIns="0" rtlCol="0" anchor="t"/>
          <a:lstStyle/>
          <a:p>
            <a:pPr indent="0" marL="0">
              <a:buNone/>
            </a:pPr>
            <a:r>
              <a:rPr lang="en-US" sz="2600" b="1" dirty="0">
                <a:solidFill>
                  <a:schemeClr val="accent6"/>
                </a:solidFill>
                <a:latin typeface="Cambria" pitchFamily="34" charset="0"/>
                <a:ea typeface="Cambria" pitchFamily="34" charset="-122"/>
                <a:cs typeface="Cambria" pitchFamily="34" charset="-120"/>
              </a:rPr>
              <a:t>20–50%</a:t>
            </a:r>
            <a:endParaRPr lang="en-US" sz="2600" dirty="0"/>
          </a:p>
        </p:txBody>
      </p:sp>
      <p:sp>
        <p:nvSpPr>
          <p:cNvPr id="11" name="Text 8"/>
          <p:cNvSpPr txBox="1"/>
          <p:nvPr/>
        </p:nvSpPr>
        <p:spPr>
          <a:xfrm>
            <a:off x="8503920" y="3675888"/>
            <a:ext cx="3017520" cy="274320"/>
          </a:xfrm>
          <a:prstGeom prst="rect">
            <a:avLst/>
          </a:prstGeom>
          <a:noFill/>
          <a:ln/>
        </p:spPr>
        <p:txBody>
          <a:bodyPr wrap="square" lIns="0" tIns="0" rIns="0" bIns="0" rtlCol="0" anchor="t"/>
          <a:lstStyle/>
          <a:p>
            <a:pPr indent="0" marL="0">
              <a:buNone/>
            </a:pPr>
            <a:r>
              <a:rPr lang="en-US" sz="1400" b="1" dirty="0">
                <a:solidFill>
                  <a:schemeClr val="bg1"/>
                </a:solidFill>
              </a:rPr>
              <a:t>less unplanned downtime</a:t>
            </a:r>
            <a:endParaRPr lang="en-US" sz="1400" dirty="0"/>
          </a:p>
        </p:txBody>
      </p:sp>
      <p:sp>
        <p:nvSpPr>
          <p:cNvPr id="12" name="Text 9"/>
          <p:cNvSpPr txBox="1"/>
          <p:nvPr/>
        </p:nvSpPr>
        <p:spPr>
          <a:xfrm>
            <a:off x="8503920" y="3931920"/>
            <a:ext cx="3017520" cy="411480"/>
          </a:xfrm>
          <a:prstGeom prst="rect">
            <a:avLst/>
          </a:prstGeom>
          <a:noFill/>
          <a:ln/>
        </p:spPr>
        <p:txBody>
          <a:bodyPr wrap="square" lIns="0" tIns="0" rIns="0" bIns="0" rtlCol="0" anchor="t"/>
          <a:lstStyle/>
          <a:p>
            <a:pPr indent="0" marL="0">
              <a:buNone/>
            </a:pPr>
            <a:r>
              <a:rPr lang="en-US" sz="1100" dirty="0">
                <a:solidFill>
                  <a:schemeClr val="bg2"/>
                </a:solidFill>
              </a:rPr>
              <a:t>Think ≈ Orient + Decide: anomalies caught weeks ahead</a:t>
            </a:r>
            <a:endParaRPr lang="en-US" sz="1100" dirty="0"/>
          </a:p>
        </p:txBody>
      </p:sp>
      <p:sp>
        <p:nvSpPr>
          <p:cNvPr id="13" name="see-think-do lower plant emissions"/>
          <p:cNvSpPr/>
          <p:nvPr/>
        </p:nvSpPr>
        <p:spPr>
          <a:xfrm>
            <a:off x="8321040" y="4526280"/>
            <a:ext cx="3337560" cy="1280160"/>
          </a:xfrm>
          <a:prstGeom prst="roundRect">
            <a:avLst>
              <a:gd name="adj" fmla="val 8571"/>
            </a:avLst>
          </a:prstGeom>
          <a:solidFill>
            <a:schemeClr val="tx2"/>
          </a:solidFill>
          <a:ln w="9525">
            <a:solidFill>
              <a:srgbClr val="5A2A6E"/>
            </a:solidFill>
            <a:prstDash val="solid"/>
          </a:ln>
        </p:spPr>
      </p:sp>
      <p:sp>
        <p:nvSpPr>
          <p:cNvPr id="14" name="Text 11"/>
          <p:cNvSpPr txBox="1"/>
          <p:nvPr/>
        </p:nvSpPr>
        <p:spPr>
          <a:xfrm>
            <a:off x="8503920" y="4636008"/>
            <a:ext cx="3017520" cy="502920"/>
          </a:xfrm>
          <a:prstGeom prst="rect">
            <a:avLst/>
          </a:prstGeom>
          <a:noFill/>
          <a:ln/>
        </p:spPr>
        <p:txBody>
          <a:bodyPr wrap="square" lIns="0" tIns="0" rIns="0" bIns="0" rtlCol="0" anchor="t"/>
          <a:lstStyle/>
          <a:p>
            <a:pPr indent="0" marL="0">
              <a:buNone/>
            </a:pPr>
            <a:r>
              <a:rPr lang="en-US" sz="2600" b="1" dirty="0">
                <a:solidFill>
                  <a:schemeClr val="accent5"/>
                </a:solidFill>
                <a:latin typeface="Cambria" pitchFamily="34" charset="0"/>
                <a:ea typeface="Cambria" pitchFamily="34" charset="-122"/>
                <a:cs typeface="Cambria" pitchFamily="34" charset="-120"/>
              </a:rPr>
              <a:t>~20%</a:t>
            </a:r>
            <a:endParaRPr lang="en-US" sz="2600" dirty="0"/>
          </a:p>
        </p:txBody>
      </p:sp>
      <p:sp>
        <p:nvSpPr>
          <p:cNvPr id="15" name="Text 12"/>
          <p:cNvSpPr txBox="1"/>
          <p:nvPr/>
        </p:nvSpPr>
        <p:spPr>
          <a:xfrm>
            <a:off x="8503920" y="5093208"/>
            <a:ext cx="3017520" cy="274320"/>
          </a:xfrm>
          <a:prstGeom prst="rect">
            <a:avLst/>
          </a:prstGeom>
          <a:noFill/>
          <a:ln/>
        </p:spPr>
        <p:txBody>
          <a:bodyPr wrap="square" lIns="0" tIns="0" rIns="0" bIns="0" rtlCol="0" anchor="t"/>
          <a:lstStyle/>
          <a:p>
            <a:pPr indent="0" marL="0">
              <a:buNone/>
            </a:pPr>
            <a:r>
              <a:rPr lang="en-US" sz="1400" b="1" dirty="0">
                <a:solidFill>
                  <a:schemeClr val="bg1"/>
                </a:solidFill>
              </a:rPr>
              <a:t>lower plant emissions</a:t>
            </a:r>
            <a:endParaRPr lang="en-US" sz="1400" dirty="0"/>
          </a:p>
        </p:txBody>
      </p:sp>
      <p:sp>
        <p:nvSpPr>
          <p:cNvPr id="16" name="Text 13"/>
          <p:cNvSpPr txBox="1"/>
          <p:nvPr/>
        </p:nvSpPr>
        <p:spPr>
          <a:xfrm>
            <a:off x="8503920" y="5349240"/>
            <a:ext cx="3017520" cy="411480"/>
          </a:xfrm>
          <a:prstGeom prst="rect">
            <a:avLst/>
          </a:prstGeom>
          <a:noFill/>
          <a:ln/>
        </p:spPr>
        <p:txBody>
          <a:bodyPr wrap="square" lIns="0" tIns="0" rIns="0" bIns="0" rtlCol="0" anchor="t"/>
          <a:lstStyle/>
          <a:p>
            <a:pPr indent="0" marL="0">
              <a:buNone/>
            </a:pPr>
            <a:r>
              <a:rPr lang="en-US" sz="1100" dirty="0">
                <a:solidFill>
                  <a:schemeClr val="bg2"/>
                </a:solidFill>
              </a:rPr>
              <a:t>Do ≈ Act: closed-loop control balances output and energy</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05 · SUSTAINABLE AI</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Sustainable AI has two sides of one coin</a:t>
            </a:r>
            <a:endParaRPr lang="en-US" sz="2800" dirty="0"/>
          </a:p>
        </p:txBody>
      </p:sp>
      <p:pic>
        <p:nvPicPr>
          <p:cNvPr id="4" name="The 12 dimensions of AI-driven sustainable transformation" descr="The 12 dimensions of AI-driven sustainable transformation">    </p:cNvPr>
          <p:cNvPicPr>
            <a:picLocks noChangeAspect="1"/>
          </p:cNvPicPr>
          <p:nvPr/>
        </p:nvPicPr>
        <p:blipFill>
          <a:blip r:embed="rId1"/>
          <a:stretch>
            <a:fillRect/>
          </a:stretch>
        </p:blipFill>
        <p:spPr>
          <a:xfrm>
            <a:off x="548640" y="1691640"/>
            <a:ext cx="6766560" cy="3776472"/>
          </a:xfrm>
          <a:prstGeom prst="rect">
            <a:avLst/>
          </a:prstGeom>
        </p:spPr>
      </p:pic>
      <p:sp>
        <p:nvSpPr>
          <p:cNvPr id="5" name="side Greening of AI"/>
          <p:cNvSpPr/>
          <p:nvPr/>
        </p:nvSpPr>
        <p:spPr>
          <a:xfrm>
            <a:off x="7635240" y="1691640"/>
            <a:ext cx="4023360" cy="1783080"/>
          </a:xfrm>
          <a:prstGeom prst="roundRect">
            <a:avLst>
              <a:gd name="adj" fmla="val 6154"/>
            </a:avLst>
          </a:prstGeom>
          <a:solidFill>
            <a:schemeClr val="tx2"/>
          </a:solidFill>
          <a:ln w="9525">
            <a:solidFill>
              <a:srgbClr val="5A2A6E"/>
            </a:solidFill>
            <a:prstDash val="solid"/>
          </a:ln>
        </p:spPr>
      </p:sp>
      <p:sp>
        <p:nvSpPr>
          <p:cNvPr id="6" name="Text 3"/>
          <p:cNvSpPr txBox="1"/>
          <p:nvPr/>
        </p:nvSpPr>
        <p:spPr>
          <a:xfrm>
            <a:off x="7863840" y="1856232"/>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Greening of AI</a:t>
            </a:r>
            <a:endParaRPr lang="en-US" sz="1800" dirty="0"/>
          </a:p>
        </p:txBody>
      </p:sp>
      <p:sp>
        <p:nvSpPr>
          <p:cNvPr id="7" name="Text 4"/>
          <p:cNvSpPr txBox="1"/>
          <p:nvPr/>
        </p:nvSpPr>
        <p:spPr>
          <a:xfrm>
            <a:off x="7863840" y="2212848"/>
            <a:ext cx="3566160" cy="274320"/>
          </a:xfrm>
          <a:prstGeom prst="rect">
            <a:avLst/>
          </a:prstGeom>
          <a:noFill/>
          <a:ln/>
        </p:spPr>
        <p:txBody>
          <a:bodyPr wrap="square" lIns="0" tIns="0" rIns="0" bIns="0" rtlCol="0" anchor="t"/>
          <a:lstStyle/>
          <a:p>
            <a:pPr indent="0" marL="0">
              <a:buNone/>
            </a:pPr>
            <a:r>
              <a:rPr lang="en-US" sz="1200" dirty="0">
                <a:solidFill>
                  <a:schemeClr val="accent4"/>
                </a:solidFill>
              </a:rPr>
              <a:t>Dimensions 1–3, 6–7</a:t>
            </a:r>
            <a:endParaRPr lang="en-US" sz="1200" dirty="0"/>
          </a:p>
        </p:txBody>
      </p:sp>
      <p:sp>
        <p:nvSpPr>
          <p:cNvPr id="8" name="Text 5"/>
          <p:cNvSpPr txBox="1"/>
          <p:nvPr/>
        </p:nvSpPr>
        <p:spPr>
          <a:xfrm>
            <a:off x="7863840" y="2514600"/>
            <a:ext cx="3566160" cy="914400"/>
          </a:xfrm>
          <a:prstGeom prst="rect">
            <a:avLst/>
          </a:prstGeom>
          <a:noFill/>
          <a:ln/>
        </p:spPr>
        <p:txBody>
          <a:bodyPr wrap="square" lIns="0" tIns="0" rIns="0" bIns="0" rtlCol="0" anchor="t"/>
          <a:lstStyle/>
          <a:p>
            <a:pPr indent="0" marL="0">
              <a:buNone/>
            </a:pPr>
            <a:r>
              <a:rPr lang="en-US" sz="1300" dirty="0">
                <a:solidFill>
                  <a:schemeClr val="bg2"/>
                </a:solidFill>
              </a:rPr>
              <a:t>Shrink the footprint of computing: carbon-free power for data centres, efficient models and hardware, right-sized services, secure infrastructure.</a:t>
            </a:r>
            <a:endParaRPr lang="en-US" sz="1300" dirty="0"/>
          </a:p>
        </p:txBody>
      </p:sp>
      <p:sp>
        <p:nvSpPr>
          <p:cNvPr id="9" name="side AI for greening"/>
          <p:cNvSpPr/>
          <p:nvPr/>
        </p:nvSpPr>
        <p:spPr>
          <a:xfrm>
            <a:off x="7635240" y="3630168"/>
            <a:ext cx="4023360" cy="1783080"/>
          </a:xfrm>
          <a:prstGeom prst="roundRect">
            <a:avLst>
              <a:gd name="adj" fmla="val 6154"/>
            </a:avLst>
          </a:prstGeom>
          <a:solidFill>
            <a:schemeClr val="tx2"/>
          </a:solidFill>
          <a:ln w="9525">
            <a:solidFill>
              <a:srgbClr val="5A2A6E"/>
            </a:solidFill>
            <a:prstDash val="solid"/>
          </a:ln>
        </p:spPr>
      </p:sp>
      <p:sp>
        <p:nvSpPr>
          <p:cNvPr id="10" name="Text 7"/>
          <p:cNvSpPr txBox="1"/>
          <p:nvPr/>
        </p:nvSpPr>
        <p:spPr>
          <a:xfrm>
            <a:off x="7863840" y="3794760"/>
            <a:ext cx="3566160" cy="365760"/>
          </a:xfrm>
          <a:prstGeom prst="rect">
            <a:avLst/>
          </a:prstGeom>
          <a:noFill/>
          <a:ln/>
        </p:spPr>
        <p:txBody>
          <a:bodyPr wrap="square" lIns="0" tIns="0" rIns="0" bIns="0" rtlCol="0" anchor="t"/>
          <a:lstStyle/>
          <a:p>
            <a:pPr indent="0" marL="0">
              <a:buNone/>
            </a:pPr>
            <a:r>
              <a:rPr lang="en-US" sz="1800" b="1" dirty="0">
                <a:solidFill>
                  <a:schemeClr val="accent5"/>
                </a:solidFill>
              </a:rPr>
              <a:t>AI for greening</a:t>
            </a:r>
            <a:endParaRPr lang="en-US" sz="1800" dirty="0"/>
          </a:p>
        </p:txBody>
      </p:sp>
      <p:sp>
        <p:nvSpPr>
          <p:cNvPr id="11" name="Text 8"/>
          <p:cNvSpPr txBox="1"/>
          <p:nvPr/>
        </p:nvSpPr>
        <p:spPr>
          <a:xfrm>
            <a:off x="7863840" y="4151376"/>
            <a:ext cx="3566160" cy="274320"/>
          </a:xfrm>
          <a:prstGeom prst="rect">
            <a:avLst/>
          </a:prstGeom>
          <a:noFill/>
          <a:ln/>
        </p:spPr>
        <p:txBody>
          <a:bodyPr wrap="square" lIns="0" tIns="0" rIns="0" bIns="0" rtlCol="0" anchor="t"/>
          <a:lstStyle/>
          <a:p>
            <a:pPr indent="0" marL="0">
              <a:buNone/>
            </a:pPr>
            <a:r>
              <a:rPr lang="en-US" sz="1200" dirty="0">
                <a:solidFill>
                  <a:schemeClr val="accent4"/>
                </a:solidFill>
              </a:rPr>
              <a:t>Dimensions 4–5, 8–12</a:t>
            </a:r>
            <a:endParaRPr lang="en-US" sz="1200" dirty="0"/>
          </a:p>
        </p:txBody>
      </p:sp>
      <p:sp>
        <p:nvSpPr>
          <p:cNvPr id="12" name="Text 9"/>
          <p:cNvSpPr txBox="1"/>
          <p:nvPr/>
        </p:nvSpPr>
        <p:spPr>
          <a:xfrm>
            <a:off x="7863840" y="4453128"/>
            <a:ext cx="3566160" cy="914400"/>
          </a:xfrm>
          <a:prstGeom prst="rect">
            <a:avLst/>
          </a:prstGeom>
          <a:noFill/>
          <a:ln/>
        </p:spPr>
        <p:txBody>
          <a:bodyPr wrap="square" lIns="0" tIns="0" rIns="0" bIns="0" rtlCol="0" anchor="t"/>
          <a:lstStyle/>
          <a:p>
            <a:pPr indent="0" marL="0">
              <a:buNone/>
            </a:pPr>
            <a:r>
              <a:rPr lang="en-US" sz="1300" dirty="0">
                <a:solidFill>
                  <a:schemeClr val="bg2"/>
                </a:solidFill>
              </a:rPr>
              <a:t>Use AI to transform grids, cities, businesses, ecosystems, climate adaptation, materials science, ESG reporting and policy.</a:t>
            </a:r>
            <a:endParaRPr lang="en-US" sz="1300" dirty="0"/>
          </a:p>
        </p:txBody>
      </p:sp>
      <p:sp>
        <p:nvSpPr>
          <p:cNvPr id="13" name="Text 10"/>
          <p:cNvSpPr txBox="1"/>
          <p:nvPr/>
        </p:nvSpPr>
        <p:spPr>
          <a:xfrm>
            <a:off x="548640" y="5623560"/>
            <a:ext cx="6766560" cy="457200"/>
          </a:xfrm>
          <a:prstGeom prst="rect">
            <a:avLst/>
          </a:prstGeom>
          <a:noFill/>
          <a:ln/>
        </p:spPr>
        <p:txBody>
          <a:bodyPr wrap="square" lIns="0" tIns="0" rIns="0" bIns="0" rtlCol="0" anchor="t"/>
          <a:lstStyle/>
          <a:p>
            <a:pPr indent="0" marL="0">
              <a:buNone/>
            </a:pPr>
            <a:r>
              <a:rPr lang="en-US" sz="1500" i="1" dirty="0">
                <a:solidFill>
                  <a:schemeClr val="accent4"/>
                </a:solidFill>
              </a:rPr>
              <a:t>Only doing the second side means running a carbon-neutral factory on a coal-powered brain.</a:t>
            </a:r>
            <a:endParaRPr lang="en-US" sz="15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05 · THE 12 DIMENSIONS</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Twelve dimensions, held together by governance</a:t>
            </a:r>
            <a:endParaRPr lang="en-US" sz="2800" dirty="0"/>
          </a:p>
        </p:txBody>
      </p:sp>
      <p:sp>
        <p:nvSpPr>
          <p:cNvPr id="4" name="dimension 1"/>
          <p:cNvSpPr/>
          <p:nvPr/>
        </p:nvSpPr>
        <p:spPr>
          <a:xfrm>
            <a:off x="548640" y="1691640"/>
            <a:ext cx="3566160" cy="960120"/>
          </a:xfrm>
          <a:prstGeom prst="roundRect">
            <a:avLst>
              <a:gd name="adj" fmla="val 11429"/>
            </a:avLst>
          </a:prstGeom>
          <a:solidFill>
            <a:schemeClr val="tx2"/>
          </a:solidFill>
          <a:ln w="9525">
            <a:solidFill>
              <a:srgbClr val="5A2A6E"/>
            </a:solidFill>
            <a:prstDash val="solid"/>
          </a:ln>
        </p:spPr>
      </p:sp>
      <p:sp>
        <p:nvSpPr>
          <p:cNvPr id="5" name="ring 1"/>
          <p:cNvSpPr/>
          <p:nvPr/>
        </p:nvSpPr>
        <p:spPr>
          <a:xfrm>
            <a:off x="731520" y="1892808"/>
            <a:ext cx="548640" cy="548640"/>
          </a:xfrm>
          <a:prstGeom prst="ellipse">
            <a:avLst/>
          </a:prstGeom>
          <a:solidFill>
            <a:srgbClr val="1A0420"/>
          </a:solidFill>
          <a:ln w="25400">
            <a:solidFill>
              <a:schemeClr val="accent5"/>
            </a:solidFill>
            <a:prstDash val="solid"/>
          </a:ln>
        </p:spPr>
      </p:sp>
      <p:sp>
        <p:nvSpPr>
          <p:cNvPr id="6" name="Text 4"/>
          <p:cNvSpPr txBox="1"/>
          <p:nvPr/>
        </p:nvSpPr>
        <p:spPr>
          <a:xfrm>
            <a:off x="731520" y="1892808"/>
            <a:ext cx="548640" cy="548640"/>
          </a:xfrm>
          <a:prstGeom prst="rect">
            <a:avLst/>
          </a:prstGeom>
          <a:noFill/>
          <a:ln/>
        </p:spPr>
        <p:txBody>
          <a:bodyPr wrap="square" lIns="0" tIns="0" rIns="0" bIns="0" rtlCol="0" anchor="ctr"/>
          <a:lstStyle/>
          <a:p>
            <a:pPr algn="ctr" indent="0" marL="0">
              <a:buNone/>
            </a:pPr>
            <a:r>
              <a:rPr lang="en-US" sz="1400" b="1" dirty="0">
                <a:solidFill>
                  <a:schemeClr val="accent5"/>
                </a:solidFill>
              </a:rPr>
              <a:t>1</a:t>
            </a:r>
            <a:endParaRPr lang="en-US" sz="1400" dirty="0"/>
          </a:p>
        </p:txBody>
      </p:sp>
      <p:sp>
        <p:nvSpPr>
          <p:cNvPr id="7" name="Text 5"/>
          <p:cNvSpPr txBox="1"/>
          <p:nvPr/>
        </p:nvSpPr>
        <p:spPr>
          <a:xfrm>
            <a:off x="1417320" y="1819656"/>
            <a:ext cx="2606040" cy="347472"/>
          </a:xfrm>
          <a:prstGeom prst="rect">
            <a:avLst/>
          </a:prstGeom>
          <a:noFill/>
          <a:ln/>
        </p:spPr>
        <p:txBody>
          <a:bodyPr wrap="square" lIns="0" tIns="0" rIns="0" bIns="0" rtlCol="0" anchor="t"/>
          <a:lstStyle/>
          <a:p>
            <a:pPr indent="0" marL="0">
              <a:buNone/>
            </a:pPr>
            <a:r>
              <a:rPr lang="en-US" sz="1500" b="1" dirty="0">
                <a:solidFill>
                  <a:schemeClr val="bg1"/>
                </a:solidFill>
              </a:rPr>
              <a:t>Sustainable AI</a:t>
            </a:r>
            <a:endParaRPr lang="en-US" sz="1500" dirty="0"/>
          </a:p>
        </p:txBody>
      </p:sp>
      <p:sp>
        <p:nvSpPr>
          <p:cNvPr id="8" name="Text 6"/>
          <p:cNvSpPr txBox="1"/>
          <p:nvPr/>
        </p:nvSpPr>
        <p:spPr>
          <a:xfrm>
            <a:off x="1417320" y="2167128"/>
            <a:ext cx="2606040" cy="411480"/>
          </a:xfrm>
          <a:prstGeom prst="rect">
            <a:avLst/>
          </a:prstGeom>
          <a:noFill/>
          <a:ln/>
        </p:spPr>
        <p:txBody>
          <a:bodyPr wrap="square" lIns="0" tIns="0" rIns="0" bIns="0" rtlCol="0" anchor="t"/>
          <a:lstStyle/>
          <a:p>
            <a:pPr indent="0" marL="0">
              <a:buNone/>
            </a:pPr>
            <a:r>
              <a:rPr lang="en-US" sz="1200" dirty="0">
                <a:solidFill>
                  <a:schemeClr val="bg2"/>
                </a:solidFill>
              </a:rPr>
              <a:t>Ethics, equity and long-term lifecycle</a:t>
            </a:r>
            <a:endParaRPr lang="en-US" sz="1200" dirty="0"/>
          </a:p>
        </p:txBody>
      </p:sp>
      <p:sp>
        <p:nvSpPr>
          <p:cNvPr id="9" name="dimension 2"/>
          <p:cNvSpPr/>
          <p:nvPr/>
        </p:nvSpPr>
        <p:spPr>
          <a:xfrm>
            <a:off x="4279392" y="1691640"/>
            <a:ext cx="3566160" cy="960120"/>
          </a:xfrm>
          <a:prstGeom prst="roundRect">
            <a:avLst>
              <a:gd name="adj" fmla="val 11429"/>
            </a:avLst>
          </a:prstGeom>
          <a:solidFill>
            <a:schemeClr val="tx2"/>
          </a:solidFill>
          <a:ln w="9525">
            <a:solidFill>
              <a:srgbClr val="5A2A6E"/>
            </a:solidFill>
            <a:prstDash val="solid"/>
          </a:ln>
        </p:spPr>
      </p:sp>
      <p:sp>
        <p:nvSpPr>
          <p:cNvPr id="10" name="ring 2"/>
          <p:cNvSpPr/>
          <p:nvPr/>
        </p:nvSpPr>
        <p:spPr>
          <a:xfrm>
            <a:off x="4462272" y="1892808"/>
            <a:ext cx="548640" cy="548640"/>
          </a:xfrm>
          <a:prstGeom prst="ellipse">
            <a:avLst/>
          </a:prstGeom>
          <a:solidFill>
            <a:srgbClr val="1A0420"/>
          </a:solidFill>
          <a:ln w="25400">
            <a:solidFill>
              <a:schemeClr val="accent1"/>
            </a:solidFill>
            <a:prstDash val="solid"/>
          </a:ln>
        </p:spPr>
      </p:sp>
      <p:sp>
        <p:nvSpPr>
          <p:cNvPr id="11" name="Text 9"/>
          <p:cNvSpPr txBox="1"/>
          <p:nvPr/>
        </p:nvSpPr>
        <p:spPr>
          <a:xfrm>
            <a:off x="4462272" y="1892808"/>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2" name="Text 10"/>
          <p:cNvSpPr txBox="1"/>
          <p:nvPr/>
        </p:nvSpPr>
        <p:spPr>
          <a:xfrm>
            <a:off x="5148072" y="1819656"/>
            <a:ext cx="2606040" cy="347472"/>
          </a:xfrm>
          <a:prstGeom prst="rect">
            <a:avLst/>
          </a:prstGeom>
          <a:noFill/>
          <a:ln/>
        </p:spPr>
        <p:txBody>
          <a:bodyPr wrap="square" lIns="0" tIns="0" rIns="0" bIns="0" rtlCol="0" anchor="t"/>
          <a:lstStyle/>
          <a:p>
            <a:pPr indent="0" marL="0">
              <a:buNone/>
            </a:pPr>
            <a:r>
              <a:rPr lang="en-US" sz="1500" b="1" dirty="0">
                <a:solidFill>
                  <a:schemeClr val="bg1"/>
                </a:solidFill>
              </a:rPr>
              <a:t>Sustainable energy for AI</a:t>
            </a:r>
            <a:endParaRPr lang="en-US" sz="1500" dirty="0"/>
          </a:p>
        </p:txBody>
      </p:sp>
      <p:sp>
        <p:nvSpPr>
          <p:cNvPr id="13" name="Text 11"/>
          <p:cNvSpPr txBox="1"/>
          <p:nvPr/>
        </p:nvSpPr>
        <p:spPr>
          <a:xfrm>
            <a:off x="5148072" y="2167128"/>
            <a:ext cx="2606040" cy="411480"/>
          </a:xfrm>
          <a:prstGeom prst="rect">
            <a:avLst/>
          </a:prstGeom>
          <a:noFill/>
          <a:ln/>
        </p:spPr>
        <p:txBody>
          <a:bodyPr wrap="square" lIns="0" tIns="0" rIns="0" bIns="0" rtlCol="0" anchor="t"/>
          <a:lstStyle/>
          <a:p>
            <a:pPr indent="0" marL="0">
              <a:buNone/>
            </a:pPr>
            <a:r>
              <a:rPr lang="en-US" sz="1200" dirty="0">
                <a:solidFill>
                  <a:schemeClr val="bg2"/>
                </a:solidFill>
              </a:rPr>
              <a:t>24/7 carbon-free data centres</a:t>
            </a:r>
            <a:endParaRPr lang="en-US" sz="1200" dirty="0"/>
          </a:p>
        </p:txBody>
      </p:sp>
      <p:sp>
        <p:nvSpPr>
          <p:cNvPr id="14" name="dimension 3"/>
          <p:cNvSpPr/>
          <p:nvPr/>
        </p:nvSpPr>
        <p:spPr>
          <a:xfrm>
            <a:off x="8010144" y="1691640"/>
            <a:ext cx="3566160" cy="960120"/>
          </a:xfrm>
          <a:prstGeom prst="roundRect">
            <a:avLst>
              <a:gd name="adj" fmla="val 11429"/>
            </a:avLst>
          </a:prstGeom>
          <a:solidFill>
            <a:schemeClr val="tx2"/>
          </a:solidFill>
          <a:ln w="9525">
            <a:solidFill>
              <a:srgbClr val="5A2A6E"/>
            </a:solidFill>
            <a:prstDash val="solid"/>
          </a:ln>
        </p:spPr>
      </p:sp>
      <p:sp>
        <p:nvSpPr>
          <p:cNvPr id="15" name="ring 3"/>
          <p:cNvSpPr/>
          <p:nvPr/>
        </p:nvSpPr>
        <p:spPr>
          <a:xfrm>
            <a:off x="8193024" y="1892808"/>
            <a:ext cx="548640" cy="548640"/>
          </a:xfrm>
          <a:prstGeom prst="ellipse">
            <a:avLst/>
          </a:prstGeom>
          <a:solidFill>
            <a:srgbClr val="1A0420"/>
          </a:solidFill>
          <a:ln w="25400">
            <a:solidFill>
              <a:schemeClr val="accent5"/>
            </a:solidFill>
            <a:prstDash val="solid"/>
          </a:ln>
        </p:spPr>
      </p:sp>
      <p:sp>
        <p:nvSpPr>
          <p:cNvPr id="16" name="Text 14"/>
          <p:cNvSpPr txBox="1"/>
          <p:nvPr/>
        </p:nvSpPr>
        <p:spPr>
          <a:xfrm>
            <a:off x="8193024" y="1892808"/>
            <a:ext cx="548640" cy="548640"/>
          </a:xfrm>
          <a:prstGeom prst="rect">
            <a:avLst/>
          </a:prstGeom>
          <a:noFill/>
          <a:ln/>
        </p:spPr>
        <p:txBody>
          <a:bodyPr wrap="square" lIns="0" tIns="0" rIns="0" bIns="0" rtlCol="0" anchor="ctr"/>
          <a:lstStyle/>
          <a:p>
            <a:pPr algn="ctr" indent="0" marL="0">
              <a:buNone/>
            </a:pPr>
            <a:r>
              <a:rPr lang="en-US" sz="1400" b="1" dirty="0">
                <a:solidFill>
                  <a:schemeClr val="accent5"/>
                </a:solidFill>
              </a:rPr>
              <a:t>3</a:t>
            </a:r>
            <a:endParaRPr lang="en-US" sz="1400" dirty="0"/>
          </a:p>
        </p:txBody>
      </p:sp>
      <p:sp>
        <p:nvSpPr>
          <p:cNvPr id="17" name="Text 15"/>
          <p:cNvSpPr txBox="1"/>
          <p:nvPr/>
        </p:nvSpPr>
        <p:spPr>
          <a:xfrm>
            <a:off x="8878824" y="1819656"/>
            <a:ext cx="2606040" cy="347472"/>
          </a:xfrm>
          <a:prstGeom prst="rect">
            <a:avLst/>
          </a:prstGeom>
          <a:noFill/>
          <a:ln/>
        </p:spPr>
        <p:txBody>
          <a:bodyPr wrap="square" lIns="0" tIns="0" rIns="0" bIns="0" rtlCol="0" anchor="t"/>
          <a:lstStyle/>
          <a:p>
            <a:pPr indent="0" marL="0">
              <a:buNone/>
            </a:pPr>
            <a:r>
              <a:rPr lang="en-US" sz="1500" b="1" dirty="0">
                <a:solidFill>
                  <a:schemeClr val="bg1"/>
                </a:solidFill>
              </a:rPr>
              <a:t>Green AI</a:t>
            </a:r>
            <a:endParaRPr lang="en-US" sz="1500" dirty="0"/>
          </a:p>
        </p:txBody>
      </p:sp>
      <p:sp>
        <p:nvSpPr>
          <p:cNvPr id="18" name="Text 16"/>
          <p:cNvSpPr txBox="1"/>
          <p:nvPr/>
        </p:nvSpPr>
        <p:spPr>
          <a:xfrm>
            <a:off x="8878824" y="2167128"/>
            <a:ext cx="2606040" cy="411480"/>
          </a:xfrm>
          <a:prstGeom prst="rect">
            <a:avLst/>
          </a:prstGeom>
          <a:noFill/>
          <a:ln/>
        </p:spPr>
        <p:txBody>
          <a:bodyPr wrap="square" lIns="0" tIns="0" rIns="0" bIns="0" rtlCol="0" anchor="t"/>
          <a:lstStyle/>
          <a:p>
            <a:pPr indent="0" marL="0">
              <a:buNone/>
            </a:pPr>
            <a:r>
              <a:rPr lang="en-US" sz="1200" dirty="0">
                <a:solidFill>
                  <a:schemeClr val="bg2"/>
                </a:solidFill>
              </a:rPr>
              <a:t>Distilled, quantized models; liquid cooling</a:t>
            </a:r>
            <a:endParaRPr lang="en-US" sz="1200" dirty="0"/>
          </a:p>
        </p:txBody>
      </p:sp>
      <p:sp>
        <p:nvSpPr>
          <p:cNvPr id="19" name="dimension 4"/>
          <p:cNvSpPr/>
          <p:nvPr/>
        </p:nvSpPr>
        <p:spPr>
          <a:xfrm>
            <a:off x="548640" y="2788920"/>
            <a:ext cx="3566160" cy="960120"/>
          </a:xfrm>
          <a:prstGeom prst="roundRect">
            <a:avLst>
              <a:gd name="adj" fmla="val 11429"/>
            </a:avLst>
          </a:prstGeom>
          <a:solidFill>
            <a:schemeClr val="tx2"/>
          </a:solidFill>
          <a:ln w="9525">
            <a:solidFill>
              <a:srgbClr val="5A2A6E"/>
            </a:solidFill>
            <a:prstDash val="solid"/>
          </a:ln>
        </p:spPr>
      </p:sp>
      <p:sp>
        <p:nvSpPr>
          <p:cNvPr id="20" name="ring 4"/>
          <p:cNvSpPr/>
          <p:nvPr/>
        </p:nvSpPr>
        <p:spPr>
          <a:xfrm>
            <a:off x="731520" y="2990088"/>
            <a:ext cx="548640" cy="548640"/>
          </a:xfrm>
          <a:prstGeom prst="ellipse">
            <a:avLst/>
          </a:prstGeom>
          <a:solidFill>
            <a:srgbClr val="1A0420"/>
          </a:solidFill>
          <a:ln w="25400">
            <a:solidFill>
              <a:schemeClr val="accent1"/>
            </a:solidFill>
            <a:prstDash val="solid"/>
          </a:ln>
        </p:spPr>
      </p:sp>
      <p:sp>
        <p:nvSpPr>
          <p:cNvPr id="21" name="Text 19"/>
          <p:cNvSpPr txBox="1"/>
          <p:nvPr/>
        </p:nvSpPr>
        <p:spPr>
          <a:xfrm>
            <a:off x="731520" y="2990088"/>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22" name="Text 20"/>
          <p:cNvSpPr txBox="1"/>
          <p:nvPr/>
        </p:nvSpPr>
        <p:spPr>
          <a:xfrm>
            <a:off x="1417320" y="2916936"/>
            <a:ext cx="2606040" cy="347472"/>
          </a:xfrm>
          <a:prstGeom prst="rect">
            <a:avLst/>
          </a:prstGeom>
          <a:noFill/>
          <a:ln/>
        </p:spPr>
        <p:txBody>
          <a:bodyPr wrap="square" lIns="0" tIns="0" rIns="0" bIns="0" rtlCol="0" anchor="t"/>
          <a:lstStyle/>
          <a:p>
            <a:pPr indent="0" marL="0">
              <a:buNone/>
            </a:pPr>
            <a:r>
              <a:rPr lang="en-US" sz="1500" b="1" dirty="0">
                <a:solidFill>
                  <a:schemeClr val="bg1"/>
                </a:solidFill>
              </a:rPr>
              <a:t>Systems transformation</a:t>
            </a:r>
            <a:endParaRPr lang="en-US" sz="1500" dirty="0"/>
          </a:p>
        </p:txBody>
      </p:sp>
      <p:sp>
        <p:nvSpPr>
          <p:cNvPr id="23" name="Text 21"/>
          <p:cNvSpPr txBox="1"/>
          <p:nvPr/>
        </p:nvSpPr>
        <p:spPr>
          <a:xfrm>
            <a:off x="1417320" y="3264408"/>
            <a:ext cx="2606040" cy="411480"/>
          </a:xfrm>
          <a:prstGeom prst="rect">
            <a:avLst/>
          </a:prstGeom>
          <a:noFill/>
          <a:ln/>
        </p:spPr>
        <p:txBody>
          <a:bodyPr wrap="square" lIns="0" tIns="0" rIns="0" bIns="0" rtlCol="0" anchor="t"/>
          <a:lstStyle/>
          <a:p>
            <a:pPr indent="0" marL="0">
              <a:buNone/>
            </a:pPr>
            <a:r>
              <a:rPr lang="en-US" sz="1200" dirty="0">
                <a:solidFill>
                  <a:schemeClr val="bg2"/>
                </a:solidFill>
              </a:rPr>
              <a:t>Grids, traffic and city flows</a:t>
            </a:r>
            <a:endParaRPr lang="en-US" sz="1200" dirty="0"/>
          </a:p>
        </p:txBody>
      </p:sp>
      <p:sp>
        <p:nvSpPr>
          <p:cNvPr id="24" name="dimension 5"/>
          <p:cNvSpPr/>
          <p:nvPr/>
        </p:nvSpPr>
        <p:spPr>
          <a:xfrm>
            <a:off x="4279392" y="2788920"/>
            <a:ext cx="3566160" cy="960120"/>
          </a:xfrm>
          <a:prstGeom prst="roundRect">
            <a:avLst>
              <a:gd name="adj" fmla="val 11429"/>
            </a:avLst>
          </a:prstGeom>
          <a:solidFill>
            <a:schemeClr val="tx2"/>
          </a:solidFill>
          <a:ln w="9525">
            <a:solidFill>
              <a:srgbClr val="5A2A6E"/>
            </a:solidFill>
            <a:prstDash val="solid"/>
          </a:ln>
        </p:spPr>
      </p:sp>
      <p:sp>
        <p:nvSpPr>
          <p:cNvPr id="25" name="ring 5"/>
          <p:cNvSpPr/>
          <p:nvPr/>
        </p:nvSpPr>
        <p:spPr>
          <a:xfrm>
            <a:off x="4462272" y="2990088"/>
            <a:ext cx="548640" cy="548640"/>
          </a:xfrm>
          <a:prstGeom prst="ellipse">
            <a:avLst/>
          </a:prstGeom>
          <a:solidFill>
            <a:srgbClr val="1A0420"/>
          </a:solidFill>
          <a:ln w="25400">
            <a:solidFill>
              <a:schemeClr val="accent5"/>
            </a:solidFill>
            <a:prstDash val="solid"/>
          </a:ln>
        </p:spPr>
      </p:sp>
      <p:sp>
        <p:nvSpPr>
          <p:cNvPr id="26" name="Text 24"/>
          <p:cNvSpPr txBox="1"/>
          <p:nvPr/>
        </p:nvSpPr>
        <p:spPr>
          <a:xfrm>
            <a:off x="4462272" y="2990088"/>
            <a:ext cx="548640" cy="548640"/>
          </a:xfrm>
          <a:prstGeom prst="rect">
            <a:avLst/>
          </a:prstGeom>
          <a:noFill/>
          <a:ln/>
        </p:spPr>
        <p:txBody>
          <a:bodyPr wrap="square" lIns="0" tIns="0" rIns="0" bIns="0" rtlCol="0" anchor="ctr"/>
          <a:lstStyle/>
          <a:p>
            <a:pPr algn="ctr" indent="0" marL="0">
              <a:buNone/>
            </a:pPr>
            <a:r>
              <a:rPr lang="en-US" sz="1400" b="1" dirty="0">
                <a:solidFill>
                  <a:schemeClr val="accent5"/>
                </a:solidFill>
              </a:rPr>
              <a:t>5</a:t>
            </a:r>
            <a:endParaRPr lang="en-US" sz="1400" dirty="0"/>
          </a:p>
        </p:txBody>
      </p:sp>
      <p:sp>
        <p:nvSpPr>
          <p:cNvPr id="27" name="Text 25"/>
          <p:cNvSpPr txBox="1"/>
          <p:nvPr/>
        </p:nvSpPr>
        <p:spPr>
          <a:xfrm>
            <a:off x="5148072" y="2916936"/>
            <a:ext cx="2606040" cy="347472"/>
          </a:xfrm>
          <a:prstGeom prst="rect">
            <a:avLst/>
          </a:prstGeom>
          <a:noFill/>
          <a:ln/>
        </p:spPr>
        <p:txBody>
          <a:bodyPr wrap="square" lIns="0" tIns="0" rIns="0" bIns="0" rtlCol="0" anchor="t"/>
          <a:lstStyle/>
          <a:p>
            <a:pPr indent="0" marL="0">
              <a:buNone/>
            </a:pPr>
            <a:r>
              <a:rPr lang="en-US" sz="1500" b="1" dirty="0">
                <a:solidFill>
                  <a:schemeClr val="bg1"/>
                </a:solidFill>
              </a:rPr>
              <a:t>Sustainable businesses</a:t>
            </a:r>
            <a:endParaRPr lang="en-US" sz="1500" dirty="0"/>
          </a:p>
        </p:txBody>
      </p:sp>
      <p:sp>
        <p:nvSpPr>
          <p:cNvPr id="28" name="Text 26"/>
          <p:cNvSpPr txBox="1"/>
          <p:nvPr/>
        </p:nvSpPr>
        <p:spPr>
          <a:xfrm>
            <a:off x="5148072" y="3264408"/>
            <a:ext cx="2606040" cy="411480"/>
          </a:xfrm>
          <a:prstGeom prst="rect">
            <a:avLst/>
          </a:prstGeom>
          <a:noFill/>
          <a:ln/>
        </p:spPr>
        <p:txBody>
          <a:bodyPr wrap="square" lIns="0" tIns="0" rIns="0" bIns="0" rtlCol="0" anchor="t"/>
          <a:lstStyle/>
          <a:p>
            <a:pPr indent="0" marL="0">
              <a:buNone/>
            </a:pPr>
            <a:r>
              <a:rPr lang="en-US" sz="1200" dirty="0">
                <a:solidFill>
                  <a:schemeClr val="bg2"/>
                </a:solidFill>
              </a:rPr>
              <a:t>Circular supply chains, Scope 1–3 cuts</a:t>
            </a:r>
            <a:endParaRPr lang="en-US" sz="1200" dirty="0"/>
          </a:p>
        </p:txBody>
      </p:sp>
      <p:sp>
        <p:nvSpPr>
          <p:cNvPr id="29" name="dimension 6"/>
          <p:cNvSpPr/>
          <p:nvPr/>
        </p:nvSpPr>
        <p:spPr>
          <a:xfrm>
            <a:off x="8010144" y="2788920"/>
            <a:ext cx="3566160" cy="960120"/>
          </a:xfrm>
          <a:prstGeom prst="roundRect">
            <a:avLst>
              <a:gd name="adj" fmla="val 11429"/>
            </a:avLst>
          </a:prstGeom>
          <a:solidFill>
            <a:schemeClr val="tx2"/>
          </a:solidFill>
          <a:ln w="9525">
            <a:solidFill>
              <a:srgbClr val="5A2A6E"/>
            </a:solidFill>
            <a:prstDash val="solid"/>
          </a:ln>
        </p:spPr>
      </p:sp>
      <p:sp>
        <p:nvSpPr>
          <p:cNvPr id="30" name="ring 6"/>
          <p:cNvSpPr/>
          <p:nvPr/>
        </p:nvSpPr>
        <p:spPr>
          <a:xfrm>
            <a:off x="8193024" y="2990088"/>
            <a:ext cx="548640" cy="548640"/>
          </a:xfrm>
          <a:prstGeom prst="ellipse">
            <a:avLst/>
          </a:prstGeom>
          <a:solidFill>
            <a:srgbClr val="1A0420"/>
          </a:solidFill>
          <a:ln w="25400">
            <a:solidFill>
              <a:schemeClr val="accent1"/>
            </a:solidFill>
            <a:prstDash val="solid"/>
          </a:ln>
        </p:spPr>
      </p:sp>
      <p:sp>
        <p:nvSpPr>
          <p:cNvPr id="31" name="Text 29"/>
          <p:cNvSpPr txBox="1"/>
          <p:nvPr/>
        </p:nvSpPr>
        <p:spPr>
          <a:xfrm>
            <a:off x="8193024" y="2990088"/>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32" name="Text 30"/>
          <p:cNvSpPr txBox="1"/>
          <p:nvPr/>
        </p:nvSpPr>
        <p:spPr>
          <a:xfrm>
            <a:off x="8878824" y="2916936"/>
            <a:ext cx="2606040" cy="347472"/>
          </a:xfrm>
          <a:prstGeom prst="rect">
            <a:avLst/>
          </a:prstGeom>
          <a:noFill/>
          <a:ln/>
        </p:spPr>
        <p:txBody>
          <a:bodyPr wrap="square" lIns="0" tIns="0" rIns="0" bIns="0" rtlCol="0" anchor="t"/>
          <a:lstStyle/>
          <a:p>
            <a:pPr indent="0" marL="0">
              <a:buNone/>
            </a:pPr>
            <a:r>
              <a:rPr lang="en-US" sz="1500" b="1" dirty="0">
                <a:solidFill>
                  <a:schemeClr val="bg1"/>
                </a:solidFill>
              </a:rPr>
              <a:t>Sustainable AI services</a:t>
            </a:r>
            <a:endParaRPr lang="en-US" sz="1500" dirty="0"/>
          </a:p>
        </p:txBody>
      </p:sp>
      <p:sp>
        <p:nvSpPr>
          <p:cNvPr id="33" name="Text 31"/>
          <p:cNvSpPr txBox="1"/>
          <p:nvPr/>
        </p:nvSpPr>
        <p:spPr>
          <a:xfrm>
            <a:off x="8878824" y="3264408"/>
            <a:ext cx="2606040" cy="411480"/>
          </a:xfrm>
          <a:prstGeom prst="rect">
            <a:avLst/>
          </a:prstGeom>
          <a:noFill/>
          <a:ln/>
        </p:spPr>
        <p:txBody>
          <a:bodyPr wrap="square" lIns="0" tIns="0" rIns="0" bIns="0" rtlCol="0" anchor="t"/>
          <a:lstStyle/>
          <a:p>
            <a:pPr indent="0" marL="0">
              <a:buNone/>
            </a:pPr>
            <a:r>
              <a:rPr lang="en-US" sz="1200" dirty="0">
                <a:solidFill>
                  <a:schemeClr val="bg2"/>
                </a:solidFill>
              </a:rPr>
              <a:t>Right-sizing, carbon-aware routing</a:t>
            </a:r>
            <a:endParaRPr lang="en-US" sz="1200" dirty="0"/>
          </a:p>
        </p:txBody>
      </p:sp>
      <p:sp>
        <p:nvSpPr>
          <p:cNvPr id="34" name="dimension 7"/>
          <p:cNvSpPr/>
          <p:nvPr/>
        </p:nvSpPr>
        <p:spPr>
          <a:xfrm>
            <a:off x="548640" y="3886200"/>
            <a:ext cx="3566160" cy="960120"/>
          </a:xfrm>
          <a:prstGeom prst="roundRect">
            <a:avLst>
              <a:gd name="adj" fmla="val 11429"/>
            </a:avLst>
          </a:prstGeom>
          <a:solidFill>
            <a:schemeClr val="tx2"/>
          </a:solidFill>
          <a:ln w="9525">
            <a:solidFill>
              <a:srgbClr val="5A2A6E"/>
            </a:solidFill>
            <a:prstDash val="solid"/>
          </a:ln>
        </p:spPr>
      </p:sp>
      <p:sp>
        <p:nvSpPr>
          <p:cNvPr id="35" name="ring 7"/>
          <p:cNvSpPr/>
          <p:nvPr/>
        </p:nvSpPr>
        <p:spPr>
          <a:xfrm>
            <a:off x="731520" y="4087368"/>
            <a:ext cx="548640" cy="548640"/>
          </a:xfrm>
          <a:prstGeom prst="ellipse">
            <a:avLst/>
          </a:prstGeom>
          <a:solidFill>
            <a:srgbClr val="1A0420"/>
          </a:solidFill>
          <a:ln w="25400">
            <a:solidFill>
              <a:schemeClr val="accent5"/>
            </a:solidFill>
            <a:prstDash val="solid"/>
          </a:ln>
        </p:spPr>
      </p:sp>
      <p:sp>
        <p:nvSpPr>
          <p:cNvPr id="36" name="Text 34"/>
          <p:cNvSpPr txBox="1"/>
          <p:nvPr/>
        </p:nvSpPr>
        <p:spPr>
          <a:xfrm>
            <a:off x="731520" y="4087368"/>
            <a:ext cx="548640" cy="548640"/>
          </a:xfrm>
          <a:prstGeom prst="rect">
            <a:avLst/>
          </a:prstGeom>
          <a:noFill/>
          <a:ln/>
        </p:spPr>
        <p:txBody>
          <a:bodyPr wrap="square" lIns="0" tIns="0" rIns="0" bIns="0" rtlCol="0" anchor="ctr"/>
          <a:lstStyle/>
          <a:p>
            <a:pPr algn="ctr" indent="0" marL="0">
              <a:buNone/>
            </a:pPr>
            <a:r>
              <a:rPr lang="en-US" sz="1400" b="1" dirty="0">
                <a:solidFill>
                  <a:schemeClr val="accent5"/>
                </a:solidFill>
              </a:rPr>
              <a:t>7</a:t>
            </a:r>
            <a:endParaRPr lang="en-US" sz="1400" dirty="0"/>
          </a:p>
        </p:txBody>
      </p:sp>
      <p:sp>
        <p:nvSpPr>
          <p:cNvPr id="37" name="Text 35"/>
          <p:cNvSpPr txBox="1"/>
          <p:nvPr/>
        </p:nvSpPr>
        <p:spPr>
          <a:xfrm>
            <a:off x="1417320" y="4014216"/>
            <a:ext cx="2606040" cy="347472"/>
          </a:xfrm>
          <a:prstGeom prst="rect">
            <a:avLst/>
          </a:prstGeom>
          <a:noFill/>
          <a:ln/>
        </p:spPr>
        <p:txBody>
          <a:bodyPr wrap="square" lIns="0" tIns="0" rIns="0" bIns="0" rtlCol="0" anchor="t"/>
          <a:lstStyle/>
          <a:p>
            <a:pPr indent="0" marL="0">
              <a:buNone/>
            </a:pPr>
            <a:r>
              <a:rPr lang="en-US" sz="1500" b="1" dirty="0">
                <a:solidFill>
                  <a:schemeClr val="bg1"/>
                </a:solidFill>
              </a:rPr>
              <a:t>Secure &amp; sustainable AI</a:t>
            </a:r>
            <a:endParaRPr lang="en-US" sz="1500" dirty="0"/>
          </a:p>
        </p:txBody>
      </p:sp>
      <p:sp>
        <p:nvSpPr>
          <p:cNvPr id="38" name="Text 36"/>
          <p:cNvSpPr txBox="1"/>
          <p:nvPr/>
        </p:nvSpPr>
        <p:spPr>
          <a:xfrm>
            <a:off x="1417320" y="4361688"/>
            <a:ext cx="2606040" cy="411480"/>
          </a:xfrm>
          <a:prstGeom prst="rect">
            <a:avLst/>
          </a:prstGeom>
          <a:noFill/>
          <a:ln/>
        </p:spPr>
        <p:txBody>
          <a:bodyPr wrap="square" lIns="0" tIns="0" rIns="0" bIns="0" rtlCol="0" anchor="t"/>
          <a:lstStyle/>
          <a:p>
            <a:pPr indent="0" marL="0">
              <a:buNone/>
            </a:pPr>
            <a:r>
              <a:rPr lang="en-US" sz="1200" dirty="0">
                <a:solidFill>
                  <a:schemeClr val="bg2"/>
                </a:solidFill>
              </a:rPr>
              <a:t>Defence against poisoning and injection</a:t>
            </a:r>
            <a:endParaRPr lang="en-US" sz="1200" dirty="0"/>
          </a:p>
        </p:txBody>
      </p:sp>
      <p:sp>
        <p:nvSpPr>
          <p:cNvPr id="39" name="dimension 8"/>
          <p:cNvSpPr/>
          <p:nvPr/>
        </p:nvSpPr>
        <p:spPr>
          <a:xfrm>
            <a:off x="4279392" y="3886200"/>
            <a:ext cx="3566160" cy="960120"/>
          </a:xfrm>
          <a:prstGeom prst="roundRect">
            <a:avLst>
              <a:gd name="adj" fmla="val 11429"/>
            </a:avLst>
          </a:prstGeom>
          <a:solidFill>
            <a:schemeClr val="tx2"/>
          </a:solidFill>
          <a:ln w="9525">
            <a:solidFill>
              <a:srgbClr val="5A2A6E"/>
            </a:solidFill>
            <a:prstDash val="solid"/>
          </a:ln>
        </p:spPr>
      </p:sp>
      <p:sp>
        <p:nvSpPr>
          <p:cNvPr id="40" name="ring 8"/>
          <p:cNvSpPr/>
          <p:nvPr/>
        </p:nvSpPr>
        <p:spPr>
          <a:xfrm>
            <a:off x="4462272" y="4087368"/>
            <a:ext cx="548640" cy="548640"/>
          </a:xfrm>
          <a:prstGeom prst="ellipse">
            <a:avLst/>
          </a:prstGeom>
          <a:solidFill>
            <a:srgbClr val="1A0420"/>
          </a:solidFill>
          <a:ln w="25400">
            <a:solidFill>
              <a:schemeClr val="accent1"/>
            </a:solidFill>
            <a:prstDash val="solid"/>
          </a:ln>
        </p:spPr>
      </p:sp>
      <p:sp>
        <p:nvSpPr>
          <p:cNvPr id="41" name="Text 39"/>
          <p:cNvSpPr txBox="1"/>
          <p:nvPr/>
        </p:nvSpPr>
        <p:spPr>
          <a:xfrm>
            <a:off x="4462272" y="4087368"/>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8</a:t>
            </a:r>
            <a:endParaRPr lang="en-US" sz="1400" dirty="0"/>
          </a:p>
        </p:txBody>
      </p:sp>
      <p:sp>
        <p:nvSpPr>
          <p:cNvPr id="42" name="Text 40"/>
          <p:cNvSpPr txBox="1"/>
          <p:nvPr/>
        </p:nvSpPr>
        <p:spPr>
          <a:xfrm>
            <a:off x="5148072" y="4014216"/>
            <a:ext cx="2606040" cy="347472"/>
          </a:xfrm>
          <a:prstGeom prst="rect">
            <a:avLst/>
          </a:prstGeom>
          <a:noFill/>
          <a:ln/>
        </p:spPr>
        <p:txBody>
          <a:bodyPr wrap="square" lIns="0" tIns="0" rIns="0" bIns="0" rtlCol="0" anchor="t"/>
          <a:lstStyle/>
          <a:p>
            <a:pPr indent="0" marL="0">
              <a:buNone/>
            </a:pPr>
            <a:r>
              <a:rPr lang="en-US" sz="1500" b="1" dirty="0">
                <a:solidFill>
                  <a:schemeClr val="bg1"/>
                </a:solidFill>
              </a:rPr>
              <a:t>Biodiversity monitoring  ✦</a:t>
            </a:r>
            <a:endParaRPr lang="en-US" sz="1500" dirty="0"/>
          </a:p>
        </p:txBody>
      </p:sp>
      <p:sp>
        <p:nvSpPr>
          <p:cNvPr id="43" name="Text 41"/>
          <p:cNvSpPr txBox="1"/>
          <p:nvPr/>
        </p:nvSpPr>
        <p:spPr>
          <a:xfrm>
            <a:off x="5148072" y="4361688"/>
            <a:ext cx="2606040" cy="411480"/>
          </a:xfrm>
          <a:prstGeom prst="rect">
            <a:avLst/>
          </a:prstGeom>
          <a:noFill/>
          <a:ln/>
        </p:spPr>
        <p:txBody>
          <a:bodyPr wrap="square" lIns="0" tIns="0" rIns="0" bIns="0" rtlCol="0" anchor="t"/>
          <a:lstStyle/>
          <a:p>
            <a:pPr indent="0" marL="0">
              <a:buNone/>
            </a:pPr>
            <a:r>
              <a:rPr lang="en-US" sz="1200" dirty="0">
                <a:solidFill>
                  <a:schemeClr val="bg2"/>
                </a:solidFill>
              </a:rPr>
              <a:t>Satellites and vision guard ecosystems</a:t>
            </a:r>
            <a:endParaRPr lang="en-US" sz="1200" dirty="0"/>
          </a:p>
        </p:txBody>
      </p:sp>
      <p:sp>
        <p:nvSpPr>
          <p:cNvPr id="44" name="dimension 9"/>
          <p:cNvSpPr/>
          <p:nvPr/>
        </p:nvSpPr>
        <p:spPr>
          <a:xfrm>
            <a:off x="8010144" y="3886200"/>
            <a:ext cx="3566160" cy="960120"/>
          </a:xfrm>
          <a:prstGeom prst="roundRect">
            <a:avLst>
              <a:gd name="adj" fmla="val 11429"/>
            </a:avLst>
          </a:prstGeom>
          <a:solidFill>
            <a:schemeClr val="tx2"/>
          </a:solidFill>
          <a:ln w="9525">
            <a:solidFill>
              <a:srgbClr val="5A2A6E"/>
            </a:solidFill>
            <a:prstDash val="solid"/>
          </a:ln>
        </p:spPr>
      </p:sp>
      <p:sp>
        <p:nvSpPr>
          <p:cNvPr id="45" name="ring 9"/>
          <p:cNvSpPr/>
          <p:nvPr/>
        </p:nvSpPr>
        <p:spPr>
          <a:xfrm>
            <a:off x="8193024" y="4087368"/>
            <a:ext cx="548640" cy="548640"/>
          </a:xfrm>
          <a:prstGeom prst="ellipse">
            <a:avLst/>
          </a:prstGeom>
          <a:solidFill>
            <a:srgbClr val="1A0420"/>
          </a:solidFill>
          <a:ln w="25400">
            <a:solidFill>
              <a:schemeClr val="accent5"/>
            </a:solidFill>
            <a:prstDash val="solid"/>
          </a:ln>
        </p:spPr>
      </p:sp>
      <p:sp>
        <p:nvSpPr>
          <p:cNvPr id="46" name="Text 44"/>
          <p:cNvSpPr txBox="1"/>
          <p:nvPr/>
        </p:nvSpPr>
        <p:spPr>
          <a:xfrm>
            <a:off x="8193024" y="4087368"/>
            <a:ext cx="548640" cy="548640"/>
          </a:xfrm>
          <a:prstGeom prst="rect">
            <a:avLst/>
          </a:prstGeom>
          <a:noFill/>
          <a:ln/>
        </p:spPr>
        <p:txBody>
          <a:bodyPr wrap="square" lIns="0" tIns="0" rIns="0" bIns="0" rtlCol="0" anchor="ctr"/>
          <a:lstStyle/>
          <a:p>
            <a:pPr algn="ctr" indent="0" marL="0">
              <a:buNone/>
            </a:pPr>
            <a:r>
              <a:rPr lang="en-US" sz="1400" b="1" dirty="0">
                <a:solidFill>
                  <a:schemeClr val="accent5"/>
                </a:solidFill>
              </a:rPr>
              <a:t>9</a:t>
            </a:r>
            <a:endParaRPr lang="en-US" sz="1400" dirty="0"/>
          </a:p>
        </p:txBody>
      </p:sp>
      <p:sp>
        <p:nvSpPr>
          <p:cNvPr id="47" name="Text 45"/>
          <p:cNvSpPr txBox="1"/>
          <p:nvPr/>
        </p:nvSpPr>
        <p:spPr>
          <a:xfrm>
            <a:off x="8878824" y="4014216"/>
            <a:ext cx="2606040" cy="347472"/>
          </a:xfrm>
          <a:prstGeom prst="rect">
            <a:avLst/>
          </a:prstGeom>
          <a:noFill/>
          <a:ln/>
        </p:spPr>
        <p:txBody>
          <a:bodyPr wrap="square" lIns="0" tIns="0" rIns="0" bIns="0" rtlCol="0" anchor="t"/>
          <a:lstStyle/>
          <a:p>
            <a:pPr indent="0" marL="0">
              <a:buNone/>
            </a:pPr>
            <a:r>
              <a:rPr lang="en-US" sz="1500" b="1" dirty="0">
                <a:solidFill>
                  <a:schemeClr val="bg1"/>
                </a:solidFill>
              </a:rPr>
              <a:t>Disaster resilience  ✦</a:t>
            </a:r>
            <a:endParaRPr lang="en-US" sz="1500" dirty="0"/>
          </a:p>
        </p:txBody>
      </p:sp>
      <p:sp>
        <p:nvSpPr>
          <p:cNvPr id="48" name="Text 46"/>
          <p:cNvSpPr txBox="1"/>
          <p:nvPr/>
        </p:nvSpPr>
        <p:spPr>
          <a:xfrm>
            <a:off x="8878824" y="4361688"/>
            <a:ext cx="2606040" cy="411480"/>
          </a:xfrm>
          <a:prstGeom prst="rect">
            <a:avLst/>
          </a:prstGeom>
          <a:noFill/>
          <a:ln/>
        </p:spPr>
        <p:txBody>
          <a:bodyPr wrap="square" lIns="0" tIns="0" rIns="0" bIns="0" rtlCol="0" anchor="t"/>
          <a:lstStyle/>
          <a:p>
            <a:pPr indent="0" marL="0">
              <a:buNone/>
            </a:pPr>
            <a:r>
              <a:rPr lang="en-US" sz="1200" dirty="0">
                <a:solidFill>
                  <a:schemeClr val="bg2"/>
                </a:solidFill>
              </a:rPr>
              <a:t>Hyper-local early warnings</a:t>
            </a:r>
            <a:endParaRPr lang="en-US" sz="1200" dirty="0"/>
          </a:p>
        </p:txBody>
      </p:sp>
      <p:sp>
        <p:nvSpPr>
          <p:cNvPr id="49" name="dimension 10"/>
          <p:cNvSpPr/>
          <p:nvPr/>
        </p:nvSpPr>
        <p:spPr>
          <a:xfrm>
            <a:off x="548640" y="4983480"/>
            <a:ext cx="3566160" cy="960120"/>
          </a:xfrm>
          <a:prstGeom prst="roundRect">
            <a:avLst>
              <a:gd name="adj" fmla="val 11429"/>
            </a:avLst>
          </a:prstGeom>
          <a:solidFill>
            <a:schemeClr val="tx2"/>
          </a:solidFill>
          <a:ln w="9525">
            <a:solidFill>
              <a:srgbClr val="5A2A6E"/>
            </a:solidFill>
            <a:prstDash val="solid"/>
          </a:ln>
        </p:spPr>
      </p:sp>
      <p:sp>
        <p:nvSpPr>
          <p:cNvPr id="50" name="ring 10"/>
          <p:cNvSpPr/>
          <p:nvPr/>
        </p:nvSpPr>
        <p:spPr>
          <a:xfrm>
            <a:off x="731520" y="5184648"/>
            <a:ext cx="548640" cy="548640"/>
          </a:xfrm>
          <a:prstGeom prst="ellipse">
            <a:avLst/>
          </a:prstGeom>
          <a:solidFill>
            <a:srgbClr val="1A0420"/>
          </a:solidFill>
          <a:ln w="25400">
            <a:solidFill>
              <a:schemeClr val="accent1"/>
            </a:solidFill>
            <a:prstDash val="solid"/>
          </a:ln>
        </p:spPr>
      </p:sp>
      <p:sp>
        <p:nvSpPr>
          <p:cNvPr id="51" name="Text 49"/>
          <p:cNvSpPr txBox="1"/>
          <p:nvPr/>
        </p:nvSpPr>
        <p:spPr>
          <a:xfrm>
            <a:off x="731520" y="5184648"/>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10</a:t>
            </a:r>
            <a:endParaRPr lang="en-US" sz="1400" dirty="0"/>
          </a:p>
        </p:txBody>
      </p:sp>
      <p:sp>
        <p:nvSpPr>
          <p:cNvPr id="52" name="Text 50"/>
          <p:cNvSpPr txBox="1"/>
          <p:nvPr/>
        </p:nvSpPr>
        <p:spPr>
          <a:xfrm>
            <a:off x="1417320" y="5111496"/>
            <a:ext cx="2606040" cy="347472"/>
          </a:xfrm>
          <a:prstGeom prst="rect">
            <a:avLst/>
          </a:prstGeom>
          <a:noFill/>
          <a:ln/>
        </p:spPr>
        <p:txBody>
          <a:bodyPr wrap="square" lIns="0" tIns="0" rIns="0" bIns="0" rtlCol="0" anchor="t"/>
          <a:lstStyle/>
          <a:p>
            <a:pPr indent="0" marL="0">
              <a:buNone/>
            </a:pPr>
            <a:r>
              <a:rPr lang="en-US" sz="1500" b="1" dirty="0">
                <a:solidFill>
                  <a:schemeClr val="bg1"/>
                </a:solidFill>
              </a:rPr>
              <a:t>Materials discovery  ✦</a:t>
            </a:r>
            <a:endParaRPr lang="en-US" sz="1500" dirty="0"/>
          </a:p>
        </p:txBody>
      </p:sp>
      <p:sp>
        <p:nvSpPr>
          <p:cNvPr id="53" name="Text 51"/>
          <p:cNvSpPr txBox="1"/>
          <p:nvPr/>
        </p:nvSpPr>
        <p:spPr>
          <a:xfrm>
            <a:off x="1417320" y="5458968"/>
            <a:ext cx="2606040" cy="411480"/>
          </a:xfrm>
          <a:prstGeom prst="rect">
            <a:avLst/>
          </a:prstGeom>
          <a:noFill/>
          <a:ln/>
        </p:spPr>
        <p:txBody>
          <a:bodyPr wrap="square" lIns="0" tIns="0" rIns="0" bIns="0" rtlCol="0" anchor="t"/>
          <a:lstStyle/>
          <a:p>
            <a:pPr indent="0" marL="0">
              <a:buNone/>
            </a:pPr>
            <a:r>
              <a:rPr lang="en-US" sz="1200" dirty="0">
                <a:solidFill>
                  <a:schemeClr val="bg2"/>
                </a:solidFill>
              </a:rPr>
              <a:t>Graph networks for green chemistry</a:t>
            </a:r>
            <a:endParaRPr lang="en-US" sz="1200" dirty="0"/>
          </a:p>
        </p:txBody>
      </p:sp>
      <p:sp>
        <p:nvSpPr>
          <p:cNvPr id="54" name="dimension 11"/>
          <p:cNvSpPr/>
          <p:nvPr/>
        </p:nvSpPr>
        <p:spPr>
          <a:xfrm>
            <a:off x="4279392" y="4983480"/>
            <a:ext cx="3566160" cy="960120"/>
          </a:xfrm>
          <a:prstGeom prst="roundRect">
            <a:avLst>
              <a:gd name="adj" fmla="val 11429"/>
            </a:avLst>
          </a:prstGeom>
          <a:solidFill>
            <a:schemeClr val="tx2"/>
          </a:solidFill>
          <a:ln w="9525">
            <a:solidFill>
              <a:srgbClr val="5A2A6E"/>
            </a:solidFill>
            <a:prstDash val="solid"/>
          </a:ln>
        </p:spPr>
      </p:sp>
      <p:sp>
        <p:nvSpPr>
          <p:cNvPr id="55" name="ring 11"/>
          <p:cNvSpPr/>
          <p:nvPr/>
        </p:nvSpPr>
        <p:spPr>
          <a:xfrm>
            <a:off x="4462272" y="5184648"/>
            <a:ext cx="548640" cy="548640"/>
          </a:xfrm>
          <a:prstGeom prst="ellipse">
            <a:avLst/>
          </a:prstGeom>
          <a:solidFill>
            <a:srgbClr val="1A0420"/>
          </a:solidFill>
          <a:ln w="25400">
            <a:solidFill>
              <a:schemeClr val="accent5"/>
            </a:solidFill>
            <a:prstDash val="solid"/>
          </a:ln>
        </p:spPr>
      </p:sp>
      <p:sp>
        <p:nvSpPr>
          <p:cNvPr id="56" name="Text 54"/>
          <p:cNvSpPr txBox="1"/>
          <p:nvPr/>
        </p:nvSpPr>
        <p:spPr>
          <a:xfrm>
            <a:off x="4462272" y="5184648"/>
            <a:ext cx="548640" cy="548640"/>
          </a:xfrm>
          <a:prstGeom prst="rect">
            <a:avLst/>
          </a:prstGeom>
          <a:noFill/>
          <a:ln/>
        </p:spPr>
        <p:txBody>
          <a:bodyPr wrap="square" lIns="0" tIns="0" rIns="0" bIns="0" rtlCol="0" anchor="ctr"/>
          <a:lstStyle/>
          <a:p>
            <a:pPr algn="ctr" indent="0" marL="0">
              <a:buNone/>
            </a:pPr>
            <a:r>
              <a:rPr lang="en-US" sz="1400" b="1" dirty="0">
                <a:solidFill>
                  <a:schemeClr val="accent5"/>
                </a:solidFill>
              </a:rPr>
              <a:t>11</a:t>
            </a:r>
            <a:endParaRPr lang="en-US" sz="1400" dirty="0"/>
          </a:p>
        </p:txBody>
      </p:sp>
      <p:sp>
        <p:nvSpPr>
          <p:cNvPr id="57" name="Text 55"/>
          <p:cNvSpPr txBox="1"/>
          <p:nvPr/>
        </p:nvSpPr>
        <p:spPr>
          <a:xfrm>
            <a:off x="5148072" y="5111496"/>
            <a:ext cx="2606040" cy="347472"/>
          </a:xfrm>
          <a:prstGeom prst="rect">
            <a:avLst/>
          </a:prstGeom>
          <a:noFill/>
          <a:ln/>
        </p:spPr>
        <p:txBody>
          <a:bodyPr wrap="square" lIns="0" tIns="0" rIns="0" bIns="0" rtlCol="0" anchor="t"/>
          <a:lstStyle/>
          <a:p>
            <a:pPr indent="0" marL="0">
              <a:buNone/>
            </a:pPr>
            <a:r>
              <a:rPr lang="en-US" sz="1500" b="1" dirty="0">
                <a:solidFill>
                  <a:schemeClr val="bg1"/>
                </a:solidFill>
              </a:rPr>
              <a:t>ESG compliance  ✦</a:t>
            </a:r>
            <a:endParaRPr lang="en-US" sz="1500" dirty="0"/>
          </a:p>
        </p:txBody>
      </p:sp>
      <p:sp>
        <p:nvSpPr>
          <p:cNvPr id="58" name="Text 56"/>
          <p:cNvSpPr txBox="1"/>
          <p:nvPr/>
        </p:nvSpPr>
        <p:spPr>
          <a:xfrm>
            <a:off x="5148072" y="5458968"/>
            <a:ext cx="2606040" cy="411480"/>
          </a:xfrm>
          <a:prstGeom prst="rect">
            <a:avLst/>
          </a:prstGeom>
          <a:noFill/>
          <a:ln/>
        </p:spPr>
        <p:txBody>
          <a:bodyPr wrap="square" lIns="0" tIns="0" rIns="0" bIns="0" rtlCol="0" anchor="t"/>
          <a:lstStyle/>
          <a:p>
            <a:pPr indent="0" marL="0">
              <a:buNone/>
            </a:pPr>
            <a:r>
              <a:rPr lang="en-US" sz="1200" dirty="0">
                <a:solidFill>
                  <a:schemeClr val="bg2"/>
                </a:solidFill>
              </a:rPr>
              <a:t>Automated carbon accounting (CSRD, ISSB)</a:t>
            </a:r>
            <a:endParaRPr lang="en-US" sz="1200" dirty="0"/>
          </a:p>
        </p:txBody>
      </p:sp>
      <p:sp>
        <p:nvSpPr>
          <p:cNvPr id="59" name="dimension 12"/>
          <p:cNvSpPr/>
          <p:nvPr/>
        </p:nvSpPr>
        <p:spPr>
          <a:xfrm>
            <a:off x="8010144" y="4983480"/>
            <a:ext cx="3566160" cy="960120"/>
          </a:xfrm>
          <a:prstGeom prst="roundRect">
            <a:avLst>
              <a:gd name="adj" fmla="val 11429"/>
            </a:avLst>
          </a:prstGeom>
          <a:solidFill>
            <a:schemeClr val="tx2"/>
          </a:solidFill>
          <a:ln w="9525">
            <a:solidFill>
              <a:srgbClr val="5A2A6E"/>
            </a:solidFill>
            <a:prstDash val="solid"/>
          </a:ln>
        </p:spPr>
      </p:sp>
      <p:sp>
        <p:nvSpPr>
          <p:cNvPr id="60" name="ring 12"/>
          <p:cNvSpPr/>
          <p:nvPr/>
        </p:nvSpPr>
        <p:spPr>
          <a:xfrm>
            <a:off x="8193024" y="5184648"/>
            <a:ext cx="548640" cy="548640"/>
          </a:xfrm>
          <a:prstGeom prst="ellipse">
            <a:avLst/>
          </a:prstGeom>
          <a:solidFill>
            <a:srgbClr val="1A0420"/>
          </a:solidFill>
          <a:ln w="25400">
            <a:solidFill>
              <a:schemeClr val="accent4"/>
            </a:solidFill>
            <a:prstDash val="solid"/>
          </a:ln>
        </p:spPr>
      </p:sp>
      <p:sp>
        <p:nvSpPr>
          <p:cNvPr id="61" name="Text 59"/>
          <p:cNvSpPr txBox="1"/>
          <p:nvPr/>
        </p:nvSpPr>
        <p:spPr>
          <a:xfrm>
            <a:off x="8193024" y="5184648"/>
            <a:ext cx="548640" cy="548640"/>
          </a:xfrm>
          <a:prstGeom prst="rect">
            <a:avLst/>
          </a:prstGeom>
          <a:noFill/>
          <a:ln/>
        </p:spPr>
        <p:txBody>
          <a:bodyPr wrap="square" lIns="0" tIns="0" rIns="0" bIns="0" rtlCol="0" anchor="ctr"/>
          <a:lstStyle/>
          <a:p>
            <a:pPr algn="ctr" indent="0" marL="0">
              <a:buNone/>
            </a:pPr>
            <a:r>
              <a:rPr lang="en-US" sz="1400" b="1" dirty="0">
                <a:solidFill>
                  <a:schemeClr val="accent4"/>
                </a:solidFill>
              </a:rPr>
              <a:t>12</a:t>
            </a:r>
            <a:endParaRPr lang="en-US" sz="1400" dirty="0"/>
          </a:p>
        </p:txBody>
      </p:sp>
      <p:sp>
        <p:nvSpPr>
          <p:cNvPr id="62" name="Text 60"/>
          <p:cNvSpPr txBox="1"/>
          <p:nvPr/>
        </p:nvSpPr>
        <p:spPr>
          <a:xfrm>
            <a:off x="8878824" y="5111496"/>
            <a:ext cx="2606040" cy="347472"/>
          </a:xfrm>
          <a:prstGeom prst="rect">
            <a:avLst/>
          </a:prstGeom>
          <a:noFill/>
          <a:ln/>
        </p:spPr>
        <p:txBody>
          <a:bodyPr wrap="square" lIns="0" tIns="0" rIns="0" bIns="0" rtlCol="0" anchor="t"/>
          <a:lstStyle/>
          <a:p>
            <a:pPr indent="0" marL="0">
              <a:buNone/>
            </a:pPr>
            <a:r>
              <a:rPr lang="en-US" sz="1500" b="1" dirty="0">
                <a:solidFill>
                  <a:schemeClr val="bg1"/>
                </a:solidFill>
              </a:rPr>
              <a:t>Governance &amp; policy  ✦</a:t>
            </a:r>
            <a:endParaRPr lang="en-US" sz="1500" dirty="0"/>
          </a:p>
        </p:txBody>
      </p:sp>
      <p:sp>
        <p:nvSpPr>
          <p:cNvPr id="63" name="Text 61"/>
          <p:cNvSpPr txBox="1"/>
          <p:nvPr/>
        </p:nvSpPr>
        <p:spPr>
          <a:xfrm>
            <a:off x="8878824" y="5458968"/>
            <a:ext cx="2606040" cy="411480"/>
          </a:xfrm>
          <a:prstGeom prst="rect">
            <a:avLst/>
          </a:prstGeom>
          <a:noFill/>
          <a:ln/>
        </p:spPr>
        <p:txBody>
          <a:bodyPr wrap="square" lIns="0" tIns="0" rIns="0" bIns="0" rtlCol="0" anchor="t"/>
          <a:lstStyle/>
          <a:p>
            <a:pPr indent="0" marL="0">
              <a:buNone/>
            </a:pPr>
            <a:r>
              <a:rPr lang="en-US" sz="1200" dirty="0">
                <a:solidFill>
                  <a:schemeClr val="bg2"/>
                </a:solidFill>
              </a:rPr>
              <a:t>Disclosure, accountability, reskilling</a:t>
            </a:r>
            <a:endParaRPr lang="en-US" sz="1200" dirty="0"/>
          </a:p>
        </p:txBody>
      </p:sp>
      <p:sp>
        <p:nvSpPr>
          <p:cNvPr id="64" name="Text 62"/>
          <p:cNvSpPr txBox="1"/>
          <p:nvPr/>
        </p:nvSpPr>
        <p:spPr>
          <a:xfrm>
            <a:off x="548640" y="6126480"/>
            <a:ext cx="5486400" cy="182880"/>
          </a:xfrm>
          <a:prstGeom prst="rect">
            <a:avLst/>
          </a:prstGeom>
          <a:noFill/>
          <a:ln/>
        </p:spPr>
        <p:txBody>
          <a:bodyPr wrap="square" lIns="0" tIns="0" rIns="0" bIns="0" rtlCol="0" anchor="t"/>
          <a:lstStyle/>
          <a:p>
            <a:pPr indent="0" marL="0">
              <a:buNone/>
            </a:pPr>
            <a:r>
              <a:rPr lang="en-US" sz="1000" dirty="0">
                <a:solidFill>
                  <a:schemeClr val="bg2"/>
                </a:solidFill>
              </a:rPr>
              <a:t>✦ new dimensions (8–12) extending the original seven</a:t>
            </a:r>
            <a:endParaRPr lang="en-US" sz="10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06 · SUSTAINABLE CONTINUITY</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Twins make continuity predictive, lean and green</a:t>
            </a:r>
            <a:endParaRPr lang="en-US" sz="2800" dirty="0"/>
          </a:p>
        </p:txBody>
      </p:sp>
      <p:pic>
        <p:nvPicPr>
          <p:cNvPr id="4" name="Six dimensions of sustainable business continuity using AI digital twins" descr="Six dimensions of sustainable business continuity using AI digital twins">    </p:cNvPr>
          <p:cNvPicPr>
            <a:picLocks noChangeAspect="1"/>
          </p:cNvPicPr>
          <p:nvPr/>
        </p:nvPicPr>
        <p:blipFill>
          <a:blip r:embed="rId1"/>
          <a:stretch>
            <a:fillRect/>
          </a:stretch>
        </p:blipFill>
        <p:spPr>
          <a:xfrm>
            <a:off x="548640" y="1691640"/>
            <a:ext cx="6583680" cy="3675888"/>
          </a:xfrm>
          <a:prstGeom prst="rect">
            <a:avLst/>
          </a:prstGeom>
        </p:spPr>
      </p:pic>
      <p:sp>
        <p:nvSpPr>
          <p:cNvPr id="5" name="ring 1"/>
          <p:cNvSpPr/>
          <p:nvPr/>
        </p:nvSpPr>
        <p:spPr>
          <a:xfrm>
            <a:off x="7452360" y="1728216"/>
            <a:ext cx="502920" cy="502920"/>
          </a:xfrm>
          <a:prstGeom prst="ellipse">
            <a:avLst/>
          </a:prstGeom>
          <a:solidFill>
            <a:srgbClr val="1A0420"/>
          </a:solidFill>
          <a:ln w="25400">
            <a:solidFill>
              <a:schemeClr val="accent1"/>
            </a:solidFill>
            <a:prstDash val="solid"/>
          </a:ln>
        </p:spPr>
      </p:sp>
      <p:sp>
        <p:nvSpPr>
          <p:cNvPr id="6" name="Text 3"/>
          <p:cNvSpPr txBox="1"/>
          <p:nvPr/>
        </p:nvSpPr>
        <p:spPr>
          <a:xfrm>
            <a:off x="7452360" y="1728216"/>
            <a:ext cx="502920" cy="502920"/>
          </a:xfrm>
          <a:prstGeom prst="rect">
            <a:avLst/>
          </a:prstGeom>
          <a:noFill/>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7" name="Text 4"/>
          <p:cNvSpPr txBox="1"/>
          <p:nvPr/>
        </p:nvSpPr>
        <p:spPr>
          <a:xfrm>
            <a:off x="8138160" y="1691640"/>
            <a:ext cx="3520440" cy="310896"/>
          </a:xfrm>
          <a:prstGeom prst="rect">
            <a:avLst/>
          </a:prstGeom>
          <a:noFill/>
          <a:ln/>
        </p:spPr>
        <p:txBody>
          <a:bodyPr wrap="square" lIns="0" tIns="0" rIns="0" bIns="0" rtlCol="0" anchor="t"/>
          <a:lstStyle/>
          <a:p>
            <a:pPr indent="0" marL="0">
              <a:buNone/>
            </a:pPr>
            <a:r>
              <a:rPr lang="en-US" sz="1500" b="1" dirty="0">
                <a:solidFill>
                  <a:schemeClr val="bg1"/>
                </a:solidFill>
              </a:rPr>
              <a:t>Predictive foresight</a:t>
            </a:r>
            <a:endParaRPr lang="en-US" sz="1500" dirty="0"/>
          </a:p>
        </p:txBody>
      </p:sp>
      <p:sp>
        <p:nvSpPr>
          <p:cNvPr id="8" name="Text 5"/>
          <p:cNvSpPr txBox="1"/>
          <p:nvPr/>
        </p:nvSpPr>
        <p:spPr>
          <a:xfrm>
            <a:off x="8138160" y="1993392"/>
            <a:ext cx="3520440" cy="329184"/>
          </a:xfrm>
          <a:prstGeom prst="rect">
            <a:avLst/>
          </a:prstGeom>
          <a:noFill/>
          <a:ln/>
        </p:spPr>
        <p:txBody>
          <a:bodyPr wrap="square" lIns="0" tIns="0" rIns="0" bIns="0" rtlCol="0" anchor="t"/>
          <a:lstStyle/>
          <a:p>
            <a:pPr indent="0" marL="0">
              <a:buNone/>
            </a:pPr>
            <a:r>
              <a:rPr lang="en-US" sz="1200" dirty="0">
                <a:solidFill>
                  <a:schemeClr val="bg2"/>
                </a:solidFill>
              </a:rPr>
              <a:t>Reroute loads before the outage, not after</a:t>
            </a:r>
            <a:endParaRPr lang="en-US" sz="1200" dirty="0"/>
          </a:p>
        </p:txBody>
      </p:sp>
      <p:sp>
        <p:nvSpPr>
          <p:cNvPr id="9" name="ring 2"/>
          <p:cNvSpPr/>
          <p:nvPr/>
        </p:nvSpPr>
        <p:spPr>
          <a:xfrm>
            <a:off x="7452360" y="2441448"/>
            <a:ext cx="502920" cy="502920"/>
          </a:xfrm>
          <a:prstGeom prst="ellipse">
            <a:avLst/>
          </a:prstGeom>
          <a:solidFill>
            <a:srgbClr val="1A0420"/>
          </a:solidFill>
          <a:ln w="25400">
            <a:solidFill>
              <a:schemeClr val="accent5"/>
            </a:solidFill>
            <a:prstDash val="solid"/>
          </a:ln>
        </p:spPr>
      </p:sp>
      <p:sp>
        <p:nvSpPr>
          <p:cNvPr id="10" name="Text 7"/>
          <p:cNvSpPr txBox="1"/>
          <p:nvPr/>
        </p:nvSpPr>
        <p:spPr>
          <a:xfrm>
            <a:off x="7452360" y="2441448"/>
            <a:ext cx="502920" cy="502920"/>
          </a:xfrm>
          <a:prstGeom prst="rect">
            <a:avLst/>
          </a:prstGeom>
          <a:noFill/>
          <a:ln/>
        </p:spPr>
        <p:txBody>
          <a:bodyPr wrap="square" lIns="0" tIns="0" rIns="0" bIns="0" rtlCol="0" anchor="ctr"/>
          <a:lstStyle/>
          <a:p>
            <a:pPr algn="ctr" indent="0" marL="0">
              <a:buNone/>
            </a:pPr>
            <a:r>
              <a:rPr lang="en-US" sz="1300" b="1" dirty="0">
                <a:solidFill>
                  <a:schemeClr val="accent5"/>
                </a:solidFill>
              </a:rPr>
              <a:t>2</a:t>
            </a:r>
            <a:endParaRPr lang="en-US" sz="1300" dirty="0"/>
          </a:p>
        </p:txBody>
      </p:sp>
      <p:sp>
        <p:nvSpPr>
          <p:cNvPr id="11" name="Text 8"/>
          <p:cNvSpPr txBox="1"/>
          <p:nvPr/>
        </p:nvSpPr>
        <p:spPr>
          <a:xfrm>
            <a:off x="8138160" y="2404872"/>
            <a:ext cx="3520440" cy="310896"/>
          </a:xfrm>
          <a:prstGeom prst="rect">
            <a:avLst/>
          </a:prstGeom>
          <a:noFill/>
          <a:ln/>
        </p:spPr>
        <p:txBody>
          <a:bodyPr wrap="square" lIns="0" tIns="0" rIns="0" bIns="0" rtlCol="0" anchor="t"/>
          <a:lstStyle/>
          <a:p>
            <a:pPr indent="0" marL="0">
              <a:buNone/>
            </a:pPr>
            <a:r>
              <a:rPr lang="en-US" sz="1500" b="1" dirty="0">
                <a:solidFill>
                  <a:schemeClr val="bg1"/>
                </a:solidFill>
              </a:rPr>
              <a:t>Lean resilience</a:t>
            </a:r>
            <a:endParaRPr lang="en-US" sz="1500" dirty="0"/>
          </a:p>
        </p:txBody>
      </p:sp>
      <p:sp>
        <p:nvSpPr>
          <p:cNvPr id="12" name="Text 9"/>
          <p:cNvSpPr txBox="1"/>
          <p:nvPr/>
        </p:nvSpPr>
        <p:spPr>
          <a:xfrm>
            <a:off x="8138160" y="2706624"/>
            <a:ext cx="3520440" cy="329184"/>
          </a:xfrm>
          <a:prstGeom prst="rect">
            <a:avLst/>
          </a:prstGeom>
          <a:noFill/>
          <a:ln/>
        </p:spPr>
        <p:txBody>
          <a:bodyPr wrap="square" lIns="0" tIns="0" rIns="0" bIns="0" rtlCol="0" anchor="t"/>
          <a:lstStyle/>
          <a:p>
            <a:pPr indent="0" marL="0">
              <a:buNone/>
            </a:pPr>
            <a:r>
              <a:rPr lang="en-US" sz="1200" dirty="0">
                <a:solidFill>
                  <a:schemeClr val="bg2"/>
                </a:solidFill>
              </a:rPr>
              <a:t>Stress-test existing capacity instead of idle hot sites</a:t>
            </a:r>
            <a:endParaRPr lang="en-US" sz="1200" dirty="0"/>
          </a:p>
        </p:txBody>
      </p:sp>
      <p:sp>
        <p:nvSpPr>
          <p:cNvPr id="13" name="ring 3"/>
          <p:cNvSpPr/>
          <p:nvPr/>
        </p:nvSpPr>
        <p:spPr>
          <a:xfrm>
            <a:off x="7452360" y="3154680"/>
            <a:ext cx="502920" cy="502920"/>
          </a:xfrm>
          <a:prstGeom prst="ellipse">
            <a:avLst/>
          </a:prstGeom>
          <a:solidFill>
            <a:srgbClr val="1A0420"/>
          </a:solidFill>
          <a:ln w="25400">
            <a:solidFill>
              <a:schemeClr val="accent5"/>
            </a:solidFill>
            <a:prstDash val="solid"/>
          </a:ln>
        </p:spPr>
      </p:sp>
      <p:sp>
        <p:nvSpPr>
          <p:cNvPr id="14" name="Text 11"/>
          <p:cNvSpPr txBox="1"/>
          <p:nvPr/>
        </p:nvSpPr>
        <p:spPr>
          <a:xfrm>
            <a:off x="7452360" y="3154680"/>
            <a:ext cx="502920" cy="502920"/>
          </a:xfrm>
          <a:prstGeom prst="rect">
            <a:avLst/>
          </a:prstGeom>
          <a:noFill/>
          <a:ln/>
        </p:spPr>
        <p:txBody>
          <a:bodyPr wrap="square" lIns="0" tIns="0" rIns="0" bIns="0" rtlCol="0" anchor="ctr"/>
          <a:lstStyle/>
          <a:p>
            <a:pPr algn="ctr" indent="0" marL="0">
              <a:buNone/>
            </a:pPr>
            <a:r>
              <a:rPr lang="en-US" sz="1300" b="1" dirty="0">
                <a:solidFill>
                  <a:schemeClr val="accent5"/>
                </a:solidFill>
              </a:rPr>
              <a:t>3</a:t>
            </a:r>
            <a:endParaRPr lang="en-US" sz="1300" dirty="0"/>
          </a:p>
        </p:txBody>
      </p:sp>
      <p:sp>
        <p:nvSpPr>
          <p:cNvPr id="15" name="Text 12"/>
          <p:cNvSpPr txBox="1"/>
          <p:nvPr/>
        </p:nvSpPr>
        <p:spPr>
          <a:xfrm>
            <a:off x="8138160" y="3118104"/>
            <a:ext cx="3520440" cy="310896"/>
          </a:xfrm>
          <a:prstGeom prst="rect">
            <a:avLst/>
          </a:prstGeom>
          <a:noFill/>
          <a:ln/>
        </p:spPr>
        <p:txBody>
          <a:bodyPr wrap="square" lIns="0" tIns="0" rIns="0" bIns="0" rtlCol="0" anchor="t"/>
          <a:lstStyle/>
          <a:p>
            <a:pPr indent="0" marL="0">
              <a:buNone/>
            </a:pPr>
            <a:r>
              <a:rPr lang="en-US" sz="1500" b="1" dirty="0">
                <a:solidFill>
                  <a:schemeClr val="bg1"/>
                </a:solidFill>
              </a:rPr>
              <a:t>Climate-adaptive operations</a:t>
            </a:r>
            <a:endParaRPr lang="en-US" sz="1500" dirty="0"/>
          </a:p>
        </p:txBody>
      </p:sp>
      <p:sp>
        <p:nvSpPr>
          <p:cNvPr id="16" name="Text 13"/>
          <p:cNvSpPr txBox="1"/>
          <p:nvPr/>
        </p:nvSpPr>
        <p:spPr>
          <a:xfrm>
            <a:off x="8138160" y="3419856"/>
            <a:ext cx="3520440" cy="329184"/>
          </a:xfrm>
          <a:prstGeom prst="rect">
            <a:avLst/>
          </a:prstGeom>
          <a:noFill/>
          <a:ln/>
        </p:spPr>
        <p:txBody>
          <a:bodyPr wrap="square" lIns="0" tIns="0" rIns="0" bIns="0" rtlCol="0" anchor="t"/>
          <a:lstStyle/>
          <a:p>
            <a:pPr indent="0" marL="0">
              <a:buNone/>
            </a:pPr>
            <a:r>
              <a:rPr lang="en-US" sz="1200" dirty="0">
                <a:solidFill>
                  <a:schemeClr val="bg2"/>
                </a:solidFill>
              </a:rPr>
              <a:t>Model floods, heat and blackouts per site</a:t>
            </a:r>
            <a:endParaRPr lang="en-US" sz="1200" dirty="0"/>
          </a:p>
        </p:txBody>
      </p:sp>
      <p:sp>
        <p:nvSpPr>
          <p:cNvPr id="17" name="ring 4"/>
          <p:cNvSpPr/>
          <p:nvPr/>
        </p:nvSpPr>
        <p:spPr>
          <a:xfrm>
            <a:off x="7452360" y="3867912"/>
            <a:ext cx="502920" cy="502920"/>
          </a:xfrm>
          <a:prstGeom prst="ellipse">
            <a:avLst/>
          </a:prstGeom>
          <a:solidFill>
            <a:srgbClr val="1A0420"/>
          </a:solidFill>
          <a:ln w="25400">
            <a:solidFill>
              <a:schemeClr val="accent1"/>
            </a:solidFill>
            <a:prstDash val="solid"/>
          </a:ln>
        </p:spPr>
      </p:sp>
      <p:sp>
        <p:nvSpPr>
          <p:cNvPr id="18" name="Text 15"/>
          <p:cNvSpPr txBox="1"/>
          <p:nvPr/>
        </p:nvSpPr>
        <p:spPr>
          <a:xfrm>
            <a:off x="7452360" y="3867912"/>
            <a:ext cx="502920" cy="502920"/>
          </a:xfrm>
          <a:prstGeom prst="rect">
            <a:avLst/>
          </a:prstGeom>
          <a:noFill/>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19" name="Text 16"/>
          <p:cNvSpPr txBox="1"/>
          <p:nvPr/>
        </p:nvSpPr>
        <p:spPr>
          <a:xfrm>
            <a:off x="8138160" y="3831336"/>
            <a:ext cx="3520440" cy="310896"/>
          </a:xfrm>
          <a:prstGeom prst="rect">
            <a:avLst/>
          </a:prstGeom>
          <a:noFill/>
          <a:ln/>
        </p:spPr>
        <p:txBody>
          <a:bodyPr wrap="square" lIns="0" tIns="0" rIns="0" bIns="0" rtlCol="0" anchor="t"/>
          <a:lstStyle/>
          <a:p>
            <a:pPr indent="0" marL="0">
              <a:buNone/>
            </a:pPr>
            <a:r>
              <a:rPr lang="en-US" sz="1500" b="1" dirty="0">
                <a:solidFill>
                  <a:schemeClr val="bg1"/>
                </a:solidFill>
              </a:rPr>
              <a:t>Circular supply chain</a:t>
            </a:r>
            <a:endParaRPr lang="en-US" sz="1500" dirty="0"/>
          </a:p>
        </p:txBody>
      </p:sp>
      <p:sp>
        <p:nvSpPr>
          <p:cNvPr id="20" name="Text 17"/>
          <p:cNvSpPr txBox="1"/>
          <p:nvPr/>
        </p:nvSpPr>
        <p:spPr>
          <a:xfrm>
            <a:off x="8138160" y="4133088"/>
            <a:ext cx="3520440" cy="329184"/>
          </a:xfrm>
          <a:prstGeom prst="rect">
            <a:avLst/>
          </a:prstGeom>
          <a:noFill/>
          <a:ln/>
        </p:spPr>
        <p:txBody>
          <a:bodyPr wrap="square" lIns="0" tIns="0" rIns="0" bIns="0" rtlCol="0" anchor="t"/>
          <a:lstStyle/>
          <a:p>
            <a:pPr indent="0" marL="0">
              <a:buNone/>
            </a:pPr>
            <a:r>
              <a:rPr lang="en-US" sz="1200" dirty="0">
                <a:solidFill>
                  <a:schemeClr val="bg2"/>
                </a:solidFill>
              </a:rPr>
              <a:t>Low-carbon rerouting over emergency air freight</a:t>
            </a:r>
            <a:endParaRPr lang="en-US" sz="1200" dirty="0"/>
          </a:p>
        </p:txBody>
      </p:sp>
      <p:sp>
        <p:nvSpPr>
          <p:cNvPr id="21" name="ring 5"/>
          <p:cNvSpPr/>
          <p:nvPr/>
        </p:nvSpPr>
        <p:spPr>
          <a:xfrm>
            <a:off x="7452360" y="4581144"/>
            <a:ext cx="502920" cy="502920"/>
          </a:xfrm>
          <a:prstGeom prst="ellipse">
            <a:avLst/>
          </a:prstGeom>
          <a:solidFill>
            <a:srgbClr val="1A0420"/>
          </a:solidFill>
          <a:ln w="25400">
            <a:solidFill>
              <a:schemeClr val="accent1"/>
            </a:solidFill>
            <a:prstDash val="solid"/>
          </a:ln>
        </p:spPr>
      </p:sp>
      <p:sp>
        <p:nvSpPr>
          <p:cNvPr id="22" name="Text 19"/>
          <p:cNvSpPr txBox="1"/>
          <p:nvPr/>
        </p:nvSpPr>
        <p:spPr>
          <a:xfrm>
            <a:off x="7452360" y="4581144"/>
            <a:ext cx="502920" cy="502920"/>
          </a:xfrm>
          <a:prstGeom prst="rect">
            <a:avLst/>
          </a:prstGeom>
          <a:noFill/>
          <a:ln/>
        </p:spPr>
        <p:txBody>
          <a:bodyPr wrap="square" lIns="0" tIns="0" rIns="0" bIns="0" rtlCol="0" anchor="ctr"/>
          <a:lstStyle/>
          <a:p>
            <a:pPr algn="ctr" indent="0" marL="0">
              <a:buNone/>
            </a:pPr>
            <a:r>
              <a:rPr lang="en-US" sz="1300" b="1" dirty="0">
                <a:solidFill>
                  <a:schemeClr val="accent1"/>
                </a:solidFill>
              </a:rPr>
              <a:t>5</a:t>
            </a:r>
            <a:endParaRPr lang="en-US" sz="1300" dirty="0"/>
          </a:p>
        </p:txBody>
      </p:sp>
      <p:sp>
        <p:nvSpPr>
          <p:cNvPr id="23" name="Text 20"/>
          <p:cNvSpPr txBox="1"/>
          <p:nvPr/>
        </p:nvSpPr>
        <p:spPr>
          <a:xfrm>
            <a:off x="8138160" y="4544568"/>
            <a:ext cx="3520440" cy="310896"/>
          </a:xfrm>
          <a:prstGeom prst="rect">
            <a:avLst/>
          </a:prstGeom>
          <a:noFill/>
          <a:ln/>
        </p:spPr>
        <p:txBody>
          <a:bodyPr wrap="square" lIns="0" tIns="0" rIns="0" bIns="0" rtlCol="0" anchor="t"/>
          <a:lstStyle/>
          <a:p>
            <a:pPr indent="0" marL="0">
              <a:buNone/>
            </a:pPr>
            <a:r>
              <a:rPr lang="en-US" sz="1500" b="1" dirty="0">
                <a:solidFill>
                  <a:schemeClr val="bg1"/>
                </a:solidFill>
              </a:rPr>
              <a:t>Cyber-resilient simulation</a:t>
            </a:r>
            <a:endParaRPr lang="en-US" sz="1500" dirty="0"/>
          </a:p>
        </p:txBody>
      </p:sp>
      <p:sp>
        <p:nvSpPr>
          <p:cNvPr id="24" name="Text 21"/>
          <p:cNvSpPr txBox="1"/>
          <p:nvPr/>
        </p:nvSpPr>
        <p:spPr>
          <a:xfrm>
            <a:off x="8138160" y="4846320"/>
            <a:ext cx="3520440" cy="329184"/>
          </a:xfrm>
          <a:prstGeom prst="rect">
            <a:avLst/>
          </a:prstGeom>
          <a:noFill/>
          <a:ln/>
        </p:spPr>
        <p:txBody>
          <a:bodyPr wrap="square" lIns="0" tIns="0" rIns="0" bIns="0" rtlCol="0" anchor="t"/>
          <a:lstStyle/>
          <a:p>
            <a:pPr indent="0" marL="0">
              <a:buNone/>
            </a:pPr>
            <a:r>
              <a:rPr lang="en-US" sz="1200" dirty="0">
                <a:solidFill>
                  <a:schemeClr val="bg2"/>
                </a:solidFill>
              </a:rPr>
              <a:t>Rehearse ransomware recovery in a sandbox</a:t>
            </a:r>
            <a:endParaRPr lang="en-US" sz="1200" dirty="0"/>
          </a:p>
        </p:txBody>
      </p:sp>
      <p:sp>
        <p:nvSpPr>
          <p:cNvPr id="25" name="ring 6"/>
          <p:cNvSpPr/>
          <p:nvPr/>
        </p:nvSpPr>
        <p:spPr>
          <a:xfrm>
            <a:off x="7452360" y="5294376"/>
            <a:ext cx="502920" cy="502920"/>
          </a:xfrm>
          <a:prstGeom prst="ellipse">
            <a:avLst/>
          </a:prstGeom>
          <a:solidFill>
            <a:srgbClr val="1A0420"/>
          </a:solidFill>
          <a:ln w="25400">
            <a:solidFill>
              <a:schemeClr val="accent4"/>
            </a:solidFill>
            <a:prstDash val="solid"/>
          </a:ln>
        </p:spPr>
      </p:sp>
      <p:sp>
        <p:nvSpPr>
          <p:cNvPr id="26" name="Text 23"/>
          <p:cNvSpPr txBox="1"/>
          <p:nvPr/>
        </p:nvSpPr>
        <p:spPr>
          <a:xfrm>
            <a:off x="7452360" y="5294376"/>
            <a:ext cx="502920" cy="502920"/>
          </a:xfrm>
          <a:prstGeom prst="rect">
            <a:avLst/>
          </a:prstGeom>
          <a:noFill/>
          <a:ln/>
        </p:spPr>
        <p:txBody>
          <a:bodyPr wrap="square" lIns="0" tIns="0" rIns="0" bIns="0" rtlCol="0" anchor="ctr"/>
          <a:lstStyle/>
          <a:p>
            <a:pPr algn="ctr" indent="0" marL="0">
              <a:buNone/>
            </a:pPr>
            <a:r>
              <a:rPr lang="en-US" sz="1300" b="1" dirty="0">
                <a:solidFill>
                  <a:schemeClr val="accent4"/>
                </a:solidFill>
              </a:rPr>
              <a:t>6</a:t>
            </a:r>
            <a:endParaRPr lang="en-US" sz="1300" dirty="0"/>
          </a:p>
        </p:txBody>
      </p:sp>
      <p:sp>
        <p:nvSpPr>
          <p:cNvPr id="27" name="Text 24"/>
          <p:cNvSpPr txBox="1"/>
          <p:nvPr/>
        </p:nvSpPr>
        <p:spPr>
          <a:xfrm>
            <a:off x="8138160" y="5257800"/>
            <a:ext cx="3520440" cy="310896"/>
          </a:xfrm>
          <a:prstGeom prst="rect">
            <a:avLst/>
          </a:prstGeom>
          <a:noFill/>
          <a:ln/>
        </p:spPr>
        <p:txBody>
          <a:bodyPr wrap="square" lIns="0" tIns="0" rIns="0" bIns="0" rtlCol="0" anchor="t"/>
          <a:lstStyle/>
          <a:p>
            <a:pPr indent="0" marL="0">
              <a:buNone/>
            </a:pPr>
            <a:r>
              <a:rPr lang="en-US" sz="1500" b="1" dirty="0">
                <a:solidFill>
                  <a:schemeClr val="bg1"/>
                </a:solidFill>
              </a:rPr>
              <a:t>Human-centric workspace</a:t>
            </a:r>
            <a:endParaRPr lang="en-US" sz="1500" dirty="0"/>
          </a:p>
        </p:txBody>
      </p:sp>
      <p:sp>
        <p:nvSpPr>
          <p:cNvPr id="28" name="Text 25"/>
          <p:cNvSpPr txBox="1"/>
          <p:nvPr/>
        </p:nvSpPr>
        <p:spPr>
          <a:xfrm>
            <a:off x="8138160" y="5559552"/>
            <a:ext cx="3520440" cy="329184"/>
          </a:xfrm>
          <a:prstGeom prst="rect">
            <a:avLst/>
          </a:prstGeom>
          <a:noFill/>
          <a:ln/>
        </p:spPr>
        <p:txBody>
          <a:bodyPr wrap="square" lIns="0" tIns="0" rIns="0" bIns="0" rtlCol="0" anchor="t"/>
          <a:lstStyle/>
          <a:p>
            <a:pPr indent="0" marL="0">
              <a:buNone/>
            </a:pPr>
            <a:r>
              <a:rPr lang="en-US" sz="1200" dirty="0">
                <a:solidFill>
                  <a:schemeClr val="bg2"/>
                </a:solidFill>
              </a:rPr>
              <a:t>Safe evacuation, air quality, burnout-free shifts</a:t>
            </a:r>
            <a:endParaRPr lang="en-US" sz="1200" dirty="0"/>
          </a:p>
        </p:txBody>
      </p:sp>
      <p:sp>
        <p:nvSpPr>
          <p:cNvPr id="29" name="Text 26"/>
          <p:cNvSpPr txBox="1"/>
          <p:nvPr/>
        </p:nvSpPr>
        <p:spPr>
          <a:xfrm>
            <a:off x="548640" y="5532120"/>
            <a:ext cx="6583680" cy="457200"/>
          </a:xfrm>
          <a:prstGeom prst="rect">
            <a:avLst/>
          </a:prstGeom>
          <a:noFill/>
          <a:ln/>
        </p:spPr>
        <p:txBody>
          <a:bodyPr wrap="square" lIns="0" tIns="0" rIns="0" bIns="0" rtlCol="0" anchor="t"/>
          <a:lstStyle/>
          <a:p>
            <a:pPr indent="0" marL="0">
              <a:buNone/>
            </a:pPr>
            <a:r>
              <a:rPr lang="en-US" sz="1500" i="1" dirty="0">
                <a:solidFill>
                  <a:schemeClr val="accent4"/>
                </a:solidFill>
              </a:rPr>
              <a:t>Resilience has been paid for in carbon. Twins change that bargain.</a:t>
            </a:r>
            <a:endParaRPr lang="en-US" sz="15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300" kern="0" dirty="0">
                <a:solidFill>
                  <a:schemeClr val="accent1"/>
                </a:solidFill>
              </a:rPr>
              <a:t>MODULE 06 · CORE VALUE MATRIX</a:t>
            </a:r>
            <a:endParaRPr lang="en-US" sz="1200" dirty="0"/>
          </a:p>
        </p:txBody>
      </p:sp>
      <p:sp>
        <p:nvSpPr>
          <p:cNvPr id="3" name="Text 1"/>
          <p:cNvSpPr/>
          <p:nvPr>
            <p:ph idx="103" type="title" hasCustomPrompt="1"/>
          </p:nvPr>
        </p:nvSpPr>
        <p:spPr>
          <a:xfrm>
            <a:off x="548640" y="685800"/>
            <a:ext cx="9784080" cy="73152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Resilience no longer has to be paid for in carbon</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377440"/>
                <a:gridCol w="4206240"/>
                <a:gridCol w="4480560"/>
              </a:tblGrid>
              <a:tr h="548640">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Traditional business continuity</a:t>
                      </a:r>
                      <a:endParaRPr lang="en-US" sz="14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AI digital twin sustainable continuity</a:t>
                      </a:r>
                      <a:endParaRPr lang="en-US" sz="14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solidFill>
                      <a:schemeClr val="tx2"/>
                    </a:solidFill>
                  </a:tcPr>
                </a:tc>
              </a:tr>
              <a:tr h="868680">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Strategy</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bg2"/>
                          </a:solidFill>
                          <a:latin typeface="Calibri" pitchFamily="34" charset="0"/>
                          <a:ea typeface="Calibri" pitchFamily="34" charset="-122"/>
                          <a:cs typeface="Calibri" pitchFamily="34" charset="-120"/>
                        </a:rPr>
                        <a:t>Reactive incident response and post-event recovery</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accent5"/>
                          </a:solidFill>
                          <a:latin typeface="Calibri" pitchFamily="34" charset="0"/>
                          <a:ea typeface="Calibri" pitchFamily="34" charset="-122"/>
                          <a:cs typeface="Calibri" pitchFamily="34" charset="-120"/>
                        </a:rPr>
                        <a:t>Predictive, autonomous stress-testing and prevention</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868680">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Asset redundancy</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bg2"/>
                          </a:solidFill>
                          <a:latin typeface="Calibri" pitchFamily="34" charset="0"/>
                          <a:ea typeface="Calibri" pitchFamily="34" charset="-122"/>
                          <a:cs typeface="Calibri" pitchFamily="34" charset="-120"/>
                        </a:rPr>
                        <a:t>Carbon-intensive idle hardware and excess stock</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accent5"/>
                          </a:solidFill>
                          <a:latin typeface="Calibri" pitchFamily="34" charset="0"/>
                          <a:ea typeface="Calibri" pitchFamily="34" charset="-122"/>
                          <a:cs typeface="Calibri" pitchFamily="34" charset="-120"/>
                        </a:rPr>
                        <a:t>Dynamic, software-orchestrated resource sharing</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868680">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Testing</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bg2"/>
                          </a:solidFill>
                          <a:latin typeface="Calibri" pitchFamily="34" charset="0"/>
                          <a:ea typeface="Calibri" pitchFamily="34" charset="-122"/>
                          <a:cs typeface="Calibri" pitchFamily="34" charset="-120"/>
                        </a:rPr>
                        <a:t>Disruptive, semi-annual tabletop exercises</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accent5"/>
                          </a:solidFill>
                          <a:latin typeface="Calibri" pitchFamily="34" charset="0"/>
                          <a:ea typeface="Calibri" pitchFamily="34" charset="-122"/>
                          <a:cs typeface="Calibri" pitchFamily="34" charset="-120"/>
                        </a:rPr>
                        <a:t>Continuous, non-intrusive 24/7 digital simulation</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r h="868680">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Environmental cost</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bg2"/>
                          </a:solidFill>
                          <a:latin typeface="Calibri" pitchFamily="34" charset="0"/>
                          <a:ea typeface="Calibri" pitchFamily="34" charset="-122"/>
                          <a:cs typeface="Calibri" pitchFamily="34" charset="-120"/>
                        </a:rPr>
                        <a:t>High-emission emergency pivots (e.g. air freight)</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c>
                  <a:txBody>
                    <a:bodyPr/>
                    <a:lstStyle/>
                    <a:p>
                      <a:pPr indent="0" marL="0">
                        <a:buNone/>
                      </a:pPr>
                      <a:r>
                        <a:rPr lang="en-US" sz="1600" dirty="0">
                          <a:solidFill>
                            <a:schemeClr val="accent5"/>
                          </a:solidFill>
                          <a:latin typeface="Calibri" pitchFamily="34" charset="0"/>
                          <a:ea typeface="Calibri" pitchFamily="34" charset="-122"/>
                          <a:cs typeface="Calibri" pitchFamily="34" charset="-120"/>
                        </a:rPr>
                        <a:t>Carbon-optimized routing and microgrid-aware failover</a:t>
                      </a:r>
                      <a:endParaRPr lang="en-US" sz="1600" dirty="0">
                        <a:latin typeface="Calibri" charset="0"/>
                        <a:ea typeface="Calibri" charset="0"/>
                        <a:cs typeface="Calibri" charset="0"/>
                      </a:endParaRPr>
                    </a:p>
                  </a:txBody>
                  <a:tcPr marL="137160" marR="137160" marT="54864" marB="54864" anchor="ctr">
                    <a:lnL w="9525" cap="flat" cmpd="sng" algn="ctr">
                      <a:solidFill>
                        <a:srgbClr val="5A2A6E"/>
                      </a:solidFill>
                      <a:prstDash val="solid"/>
                      <a:round/>
                      <a:headEnd type="none" w="med" len="med"/>
                      <a:tailEnd type="none" w="med" len="med"/>
                    </a:lnL>
                    <a:lnR w="9525" cap="flat" cmpd="sng" algn="ctr">
                      <a:solidFill>
                        <a:srgbClr val="5A2A6E"/>
                      </a:solidFill>
                      <a:prstDash val="solid"/>
                      <a:round/>
                      <a:headEnd type="none" w="med" len="med"/>
                      <a:tailEnd type="none" w="med" len="med"/>
                    </a:lnR>
                    <a:lnT w="9525" cap="flat" cmpd="sng" algn="ctr">
                      <a:solidFill>
                        <a:srgbClr val="5A2A6E"/>
                      </a:solidFill>
                      <a:prstDash val="solid"/>
                      <a:round/>
                      <a:headEnd type="none" w="med" len="med"/>
                      <a:tailEnd type="none" w="med" len="med"/>
                    </a:lnT>
                    <a:lnB w="9525" cap="flat" cmpd="sng" algn="ctr">
                      <a:solidFill>
                        <a:srgbClr val="5A2A6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548640" y="1874520"/>
            <a:ext cx="5669280" cy="365760"/>
          </a:xfrm>
          <a:prstGeom prst="rect">
            <a:avLst/>
          </a:prstGeom>
          <a:noFill/>
          <a:ln/>
        </p:spPr>
        <p:txBody>
          <a:bodyPr wrap="square" lIns="0" tIns="0" rIns="0" bIns="0" rtlCol="0"/>
          <a:lstStyle/>
          <a:p>
            <a:pPr indent="0" marL="0">
              <a:buNone/>
            </a:pPr>
            <a:r>
              <a:rPr lang="en-US" sz="1400" b="1" spc="300" kern="0" dirty="0">
                <a:solidFill>
                  <a:schemeClr val="accent1"/>
                </a:solidFill>
              </a:rPr>
              <a:t>CLOSE · CALL TO ACTION</a:t>
            </a:r>
            <a:endParaRPr lang="en-US" sz="1400" dirty="0"/>
          </a:p>
        </p:txBody>
      </p:sp>
      <p:sp>
        <p:nvSpPr>
          <p:cNvPr id="3" name="Text 0"/>
          <p:cNvSpPr/>
          <p:nvPr>
            <p:ph idx="102" type="title" hasCustomPrompt="1"/>
          </p:nvPr>
        </p:nvSpPr>
        <p:spPr>
          <a:xfrm>
            <a:off x="548640" y="2286000"/>
            <a:ext cx="5669280" cy="1920240"/>
          </a:xfrm>
          <a:prstGeom prst="rect">
            <a:avLst/>
          </a:prstGeom>
          <a:noFill/>
          <a:ln/>
        </p:spPr>
        <p:txBody>
          <a:bodyPr wrap="square" lIns="0" tIns="0" rIns="0" bIns="0" rtlCol="0" anchor="t"/>
          <a:lstStyle/>
          <a:p>
            <a:pPr algn="l" indent="0" marL="0">
              <a:buNone/>
            </a:pPr>
            <a:r>
              <a:rPr lang="en-US" sz="4600" b="1" dirty="0">
                <a:solidFill>
                  <a:schemeClr val="bg1"/>
                </a:solidFill>
                <a:latin typeface="Cambria" pitchFamily="34" charset="0"/>
                <a:ea typeface="Cambria" pitchFamily="34" charset="-122"/>
                <a:cs typeface="Cambria" pitchFamily="34" charset="-120"/>
              </a:rPr>
              <a:t>Rehearse the future </a:t>
            </a:r>
            <a:pPr algn="l" indent="0" marL="0">
              <a:buNone/>
            </a:pPr>
            <a:r>
              <a:rPr lang="en-US" sz="4600" b="1" dirty="0">
                <a:solidFill>
                  <a:schemeClr val="accent1"/>
                </a:solidFill>
                <a:latin typeface="Cambria" pitchFamily="34" charset="0"/>
                <a:ea typeface="Cambria" pitchFamily="34" charset="-122"/>
                <a:cs typeface="Cambria" pitchFamily="34" charset="-120"/>
              </a:rPr>
              <a:t>before you live it</a:t>
            </a:r>
            <a:endParaRPr lang="en-US" sz="4600" dirty="0"/>
          </a:p>
        </p:txBody>
      </p:sp>
      <p:sp>
        <p:nvSpPr>
          <p:cNvPr id="4" name="Text 0"/>
          <p:cNvSpPr/>
          <p:nvPr>
            <p:ph idx="103" type="body" hasCustomPrompt="1"/>
          </p:nvPr>
        </p:nvSpPr>
        <p:spPr>
          <a:xfrm>
            <a:off x="548640" y="4251960"/>
            <a:ext cx="5486400" cy="914400"/>
          </a:xfrm>
          <a:prstGeom prst="rect">
            <a:avLst/>
          </a:prstGeom>
          <a:noFill/>
          <a:ln/>
        </p:spPr>
        <p:txBody>
          <a:bodyPr wrap="square" lIns="0" tIns="0" rIns="0" bIns="0" rtlCol="0" anchor="t"/>
          <a:lstStyle/>
          <a:p>
            <a:pPr indent="0" marL="0">
              <a:buNone/>
            </a:pPr>
            <a:r>
              <a:rPr lang="en-US" sz="1800" dirty="0">
                <a:solidFill>
                  <a:schemeClr val="bg2"/>
                </a:solidFill>
              </a:rPr>
              <a:t>In 1970 a copy on the ground brought three people home. Today the stakes are a grid, a city, a supply chain and a climate.</a:t>
            </a:r>
            <a:endParaRPr lang="en-US" sz="1800" dirty="0"/>
          </a:p>
        </p:txBody>
      </p:sp>
      <p:sp>
        <p:nvSpPr>
          <p:cNvPr id="5" name="ask To the executives"/>
          <p:cNvSpPr/>
          <p:nvPr/>
        </p:nvSpPr>
        <p:spPr>
          <a:xfrm>
            <a:off x="6537960" y="1463040"/>
            <a:ext cx="5120640" cy="1417320"/>
          </a:xfrm>
          <a:prstGeom prst="roundRect">
            <a:avLst>
              <a:gd name="adj" fmla="val 7742"/>
            </a:avLst>
          </a:prstGeom>
          <a:solidFill>
            <a:schemeClr val="tx2"/>
          </a:solidFill>
          <a:ln w="9525">
            <a:solidFill>
              <a:srgbClr val="5A2A6E"/>
            </a:solidFill>
            <a:prstDash val="solid"/>
          </a:ln>
        </p:spPr>
      </p:sp>
      <p:sp>
        <p:nvSpPr>
          <p:cNvPr id="6" name="Text 4"/>
          <p:cNvSpPr txBox="1"/>
          <p:nvPr/>
        </p:nvSpPr>
        <p:spPr>
          <a:xfrm>
            <a:off x="6766560" y="1627632"/>
            <a:ext cx="4663440" cy="365760"/>
          </a:xfrm>
          <a:prstGeom prst="rect">
            <a:avLst/>
          </a:prstGeom>
          <a:noFill/>
          <a:ln/>
        </p:spPr>
        <p:txBody>
          <a:bodyPr wrap="square" lIns="0" tIns="0" rIns="0" bIns="0" rtlCol="0" anchor="t"/>
          <a:lstStyle/>
          <a:p>
            <a:pPr indent="0" marL="0">
              <a:buNone/>
            </a:pPr>
            <a:r>
              <a:rPr lang="en-US" sz="1800" b="1" dirty="0">
                <a:solidFill>
                  <a:schemeClr val="accent3"/>
                </a:solidFill>
              </a:rPr>
              <a:t>To the executives</a:t>
            </a:r>
            <a:endParaRPr lang="en-US" sz="1800" dirty="0"/>
          </a:p>
        </p:txBody>
      </p:sp>
      <p:sp>
        <p:nvSpPr>
          <p:cNvPr id="7" name="Text 5"/>
          <p:cNvSpPr txBox="1"/>
          <p:nvPr/>
        </p:nvSpPr>
        <p:spPr>
          <a:xfrm>
            <a:off x="6766560" y="2011680"/>
            <a:ext cx="4663440" cy="777240"/>
          </a:xfrm>
          <a:prstGeom prst="rect">
            <a:avLst/>
          </a:prstGeom>
          <a:noFill/>
          <a:ln/>
        </p:spPr>
        <p:txBody>
          <a:bodyPr wrap="square" lIns="0" tIns="0" rIns="0" bIns="0" rtlCol="0" anchor="t"/>
          <a:lstStyle/>
          <a:p>
            <a:pPr indent="0" marL="0">
              <a:buNone/>
            </a:pPr>
            <a:r>
              <a:rPr lang="en-US" sz="1400" dirty="0">
                <a:solidFill>
                  <a:schemeClr val="bg2"/>
                </a:solidFill>
              </a:rPr>
              <a:t>Pick one asset or process this quarter and give it a twin with a single measurable goal: downtime, energy or carbon.</a:t>
            </a:r>
            <a:endParaRPr lang="en-US" sz="1400" dirty="0"/>
          </a:p>
        </p:txBody>
      </p:sp>
      <p:sp>
        <p:nvSpPr>
          <p:cNvPr id="8" name="ask To the academics"/>
          <p:cNvSpPr/>
          <p:nvPr/>
        </p:nvSpPr>
        <p:spPr>
          <a:xfrm>
            <a:off x="6537960" y="3063240"/>
            <a:ext cx="5120640" cy="1417320"/>
          </a:xfrm>
          <a:prstGeom prst="roundRect">
            <a:avLst>
              <a:gd name="adj" fmla="val 7742"/>
            </a:avLst>
          </a:prstGeom>
          <a:solidFill>
            <a:schemeClr val="tx2"/>
          </a:solidFill>
          <a:ln w="9525">
            <a:solidFill>
              <a:srgbClr val="5A2A6E"/>
            </a:solidFill>
            <a:prstDash val="solid"/>
          </a:ln>
        </p:spPr>
      </p:sp>
      <p:sp>
        <p:nvSpPr>
          <p:cNvPr id="9" name="Text 7"/>
          <p:cNvSpPr txBox="1"/>
          <p:nvPr/>
        </p:nvSpPr>
        <p:spPr>
          <a:xfrm>
            <a:off x="6766560" y="3227832"/>
            <a:ext cx="4663440" cy="365760"/>
          </a:xfrm>
          <a:prstGeom prst="rect">
            <a:avLst/>
          </a:prstGeom>
          <a:noFill/>
          <a:ln/>
        </p:spPr>
        <p:txBody>
          <a:bodyPr wrap="square" lIns="0" tIns="0" rIns="0" bIns="0" rtlCol="0" anchor="t"/>
          <a:lstStyle/>
          <a:p>
            <a:pPr indent="0" marL="0">
              <a:buNone/>
            </a:pPr>
            <a:r>
              <a:rPr lang="en-US" sz="1800" b="1" dirty="0">
                <a:solidFill>
                  <a:schemeClr val="accent5"/>
                </a:solidFill>
              </a:rPr>
              <a:t>To the academics</a:t>
            </a:r>
            <a:endParaRPr lang="en-US" sz="1800" dirty="0"/>
          </a:p>
        </p:txBody>
      </p:sp>
      <p:sp>
        <p:nvSpPr>
          <p:cNvPr id="10" name="Text 8"/>
          <p:cNvSpPr txBox="1"/>
          <p:nvPr/>
        </p:nvSpPr>
        <p:spPr>
          <a:xfrm>
            <a:off x="6766560" y="3611880"/>
            <a:ext cx="4663440" cy="777240"/>
          </a:xfrm>
          <a:prstGeom prst="rect">
            <a:avLst/>
          </a:prstGeom>
          <a:noFill/>
          <a:ln/>
        </p:spPr>
        <p:txBody>
          <a:bodyPr wrap="square" lIns="0" tIns="0" rIns="0" bIns="0" rtlCol="0" anchor="t"/>
          <a:lstStyle/>
          <a:p>
            <a:pPr indent="0" marL="0">
              <a:buNone/>
            </a:pPr>
            <a:r>
              <a:rPr lang="en-US" sz="1400" dirty="0">
                <a:solidFill>
                  <a:schemeClr val="bg2"/>
                </a:solidFill>
              </a:rPr>
              <a:t>Help measure the net effect: the carbon AI saves minus the carbon it costs.</a:t>
            </a:r>
            <a:endParaRPr lang="en-US" sz="1400" dirty="0"/>
          </a:p>
        </p:txBody>
      </p:sp>
      <p:pic>
        <p:nvPicPr>
          <p:cNvPr id="11" name="Image 0" descr="QR code to Gökhan Tenekecioglu's LinkedIn profile">    </p:cNvPr>
          <p:cNvPicPr>
            <a:picLocks noChangeAspect="1"/>
          </p:cNvPicPr>
          <p:nvPr/>
        </p:nvPicPr>
        <p:blipFill>
          <a:blip r:embed="rId1"/>
          <a:stretch>
            <a:fillRect/>
          </a:stretch>
        </p:blipFill>
        <p:spPr>
          <a:xfrm>
            <a:off x="6537960" y="4800600"/>
            <a:ext cx="1143000" cy="1143000"/>
          </a:xfrm>
          <a:prstGeom prst="rect">
            <a:avLst/>
          </a:prstGeom>
        </p:spPr>
      </p:pic>
      <p:sp>
        <p:nvSpPr>
          <p:cNvPr id="12" name="Text 9"/>
          <p:cNvSpPr txBox="1"/>
          <p:nvPr/>
        </p:nvSpPr>
        <p:spPr>
          <a:xfrm>
            <a:off x="7863840" y="4937760"/>
            <a:ext cx="374904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Gökhan Tenekecioglu</a:t>
            </a:r>
            <a:endParaRPr lang="en-US" sz="2000" dirty="0"/>
          </a:p>
        </p:txBody>
      </p:sp>
      <p:sp>
        <p:nvSpPr>
          <p:cNvPr id="13" name="Text 10"/>
          <p:cNvSpPr txBox="1"/>
          <p:nvPr/>
        </p:nvSpPr>
        <p:spPr>
          <a:xfrm>
            <a:off x="7863840" y="5394960"/>
            <a:ext cx="3749040" cy="320040"/>
          </a:xfrm>
          <a:prstGeom prst="rect">
            <a:avLst/>
          </a:prstGeom>
          <a:noFill/>
          <a:ln/>
        </p:spPr>
        <p:txBody>
          <a:bodyPr wrap="square" lIns="0" tIns="0" rIns="0" bIns="0" rtlCol="0" anchor="t"/>
          <a:lstStyle/>
          <a:p>
            <a:pPr indent="0" marL="0">
              <a:buNone/>
            </a:pPr>
            <a:r>
              <a:rPr lang="en-US" sz="1400" dirty="0">
                <a:solidFill>
                  <a:schemeClr val="bg2"/>
                </a:solidFill>
              </a:rPr>
              <a:t>Thank you. Scan to connect on LinkedIn</a:t>
            </a:r>
            <a:endParaRPr lang="en-US" sz="1400" dirty="0"/>
          </a:p>
        </p:txBody>
      </p:sp>
    </p:spTree>
  </p:cSld>
  <p:clrMapOvr>
    <a:masterClrMapping/>
  </p:clrMapOvr>
</p:sld>
</file>

<file path=ppt/theme/theme1.xml><?xml version="1.0" encoding="utf-8"?>
<a:theme xmlns:a="http://schemas.openxmlformats.org/drawingml/2006/main" name="Advania Sustainable AI">
  <a:themeElements>
    <a:clrScheme name="Advania Sustainable AI">
      <a:dk1>
        <a:srgbClr val="1A0420"/>
      </a:dk1>
      <a:lt1>
        <a:srgbClr val="FFFFFF"/>
      </a:lt1>
      <a:dk2>
        <a:srgbClr val="310135"/>
      </a:dk2>
      <a:lt2>
        <a:srgbClr val="CDB9DA"/>
      </a:lt2>
      <a:accent1>
        <a:srgbClr val="3AC3DF"/>
      </a:accent1>
      <a:accent2>
        <a:srgbClr val="E0218A"/>
      </a:accent2>
      <a:accent3>
        <a:srgbClr val="F47E1E"/>
      </a:accent3>
      <a:accent4>
        <a:srgbClr val="FFC20E"/>
      </a:accent4>
      <a:accent5>
        <a:srgbClr val="8CC152"/>
      </a:accent5>
      <a:accent6>
        <a:srgbClr val="B44FD0"/>
      </a:accent6>
      <a:hlink>
        <a:srgbClr val="3AC3DF"/>
      </a:hlink>
      <a:folHlink>
        <a:srgbClr val="B44FD0"/>
      </a:folHlink>
    </a:clrScheme>
    <a:fontScheme name="Advania Sustainable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Advania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Sustainable AI Using Digital Twins</dc:title>
  <dc:subject>PptxGenJS Presentation</dc:subject>
  <dc:creator>Gökhan Tenekecioglu</dc:creator>
  <cp:lastModifiedBy>Gökhan Tenekecioglu</cp:lastModifiedBy>
  <cp:revision>1</cp:revision>
  <dcterms:created xsi:type="dcterms:W3CDTF">2026-10-28T11:47:53Z</dcterms:created>
  <dcterms:modified xsi:type="dcterms:W3CDTF">2026-10-28T11:47:53Z</dcterms:modified>
</cp:coreProperties>
</file>